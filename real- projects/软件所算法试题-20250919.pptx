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7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10874375" cy="6116320"/>
  <p:notesSz cx="7188200" cy="9499600"/>
  <p:custDataLst>
    <p:tags r:id="rId2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930" indent="1905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3130" indent="1905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330" indent="1905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530" indent="1905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9" userDrawn="1">
          <p15:clr>
            <a:srgbClr val="A4A3A4"/>
          </p15:clr>
        </p15:guide>
        <p15:guide id="2" orient="horz" pos="3678" userDrawn="1">
          <p15:clr>
            <a:srgbClr val="A4A3A4"/>
          </p15:clr>
        </p15:guide>
        <p15:guide id="3" orient="horz" pos="769" userDrawn="1">
          <p15:clr>
            <a:srgbClr val="A4A3A4"/>
          </p15:clr>
        </p15:guide>
        <p15:guide id="4" orient="horz" pos="1483" userDrawn="1">
          <p15:clr>
            <a:srgbClr val="A4A3A4"/>
          </p15:clr>
        </p15:guide>
        <p15:guide id="5" orient="horz" pos="1087" userDrawn="1">
          <p15:clr>
            <a:srgbClr val="A4A3A4"/>
          </p15:clr>
        </p15:guide>
        <p15:guide id="6" orient="horz" pos="442" userDrawn="1">
          <p15:clr>
            <a:srgbClr val="A4A3A4"/>
          </p15:clr>
        </p15:guide>
        <p15:guide id="7" orient="horz" pos="3470" userDrawn="1">
          <p15:clr>
            <a:srgbClr val="A4A3A4"/>
          </p15:clr>
        </p15:guide>
        <p15:guide id="8" pos="3088" userDrawn="1">
          <p15:clr>
            <a:srgbClr val="A4A3A4"/>
          </p15:clr>
        </p15:guide>
        <p15:guide id="9" pos="7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qmy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6331" autoAdjust="0"/>
  </p:normalViewPr>
  <p:slideViewPr>
    <p:cSldViewPr snapToGrid="0" showGuides="1">
      <p:cViewPr varScale="1">
        <p:scale>
          <a:sx n="76" d="100"/>
          <a:sy n="76" d="100"/>
        </p:scale>
        <p:origin x="582" y="78"/>
      </p:cViewPr>
      <p:guideLst>
        <p:guide orient="horz" pos="1929"/>
        <p:guide orient="horz" pos="3678"/>
        <p:guide orient="horz" pos="769"/>
        <p:guide orient="horz" pos="1483"/>
        <p:guide orient="horz" pos="1087"/>
        <p:guide orient="horz" pos="442"/>
        <p:guide orient="horz" pos="3470"/>
        <p:guide pos="3088"/>
        <p:guide pos="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-1242" y="-60"/>
      </p:cViewPr>
      <p:guideLst>
        <p:guide orient="horz" pos="2996"/>
        <p:guide pos="221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image" Target="../media/image20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468688" y="8616950"/>
            <a:ext cx="1612900" cy="5730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81358" tIns="40678" rIns="81358" bIns="40678">
            <a:spAutoFit/>
          </a:bodyPr>
          <a:lstStyle>
            <a:lvl1pPr defTabSz="109855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63830" defTabSz="109855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9855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9855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9855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985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985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985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985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defRPr/>
            </a:pPr>
            <a:fld id="{83F44849-5726-4C13-8344-DF9406421993}" type="slidenum">
              <a:rPr lang="en-US" altLang="zh-CN" sz="900" smtClean="0">
                <a:solidFill>
                  <a:schemeClr val="tx2"/>
                </a:solidFill>
                <a:latin typeface="LB Helvetica Black" charset="0"/>
              </a:rPr>
            </a:fld>
            <a:endParaRPr lang="en-US" altLang="zh-CN" sz="900">
              <a:solidFill>
                <a:schemeClr val="tx2"/>
              </a:solidFill>
              <a:latin typeface="LB Helvetica Black" charset="0"/>
            </a:endParaRPr>
          </a:p>
          <a:p>
            <a:pPr lvl="1" indent="0">
              <a:defRPr/>
            </a:pPr>
            <a:r>
              <a:rPr lang="en-US" altLang="zh-CN" sz="600">
                <a:solidFill>
                  <a:schemeClr val="tx2"/>
                </a:solidFill>
                <a:latin typeface="Century Schoolbook" panose="02040604050505020304" pitchFamily="18" charset="0"/>
              </a:rPr>
              <a:t>Title</a:t>
            </a:r>
            <a:endParaRPr lang="en-US" altLang="zh-CN" sz="600">
              <a:solidFill>
                <a:schemeClr val="tx2"/>
              </a:solidFill>
              <a:latin typeface="Century Schoolbook" panose="02040604050505020304" pitchFamily="18" charset="0"/>
            </a:endParaRPr>
          </a:p>
          <a:p>
            <a:pPr lvl="1" indent="0">
              <a:defRPr/>
            </a:pPr>
            <a:r>
              <a:rPr lang="en-US" altLang="zh-CN" sz="600">
                <a:solidFill>
                  <a:schemeClr val="tx2"/>
                </a:solidFill>
                <a:latin typeface="Century Schoolbook" panose="02040604050505020304" pitchFamily="18" charset="0"/>
              </a:rPr>
              <a:t>Date</a:t>
            </a:r>
            <a:br>
              <a:rPr lang="en-US" altLang="zh-CN" sz="600">
                <a:solidFill>
                  <a:schemeClr val="tx2"/>
                </a:solidFill>
                <a:latin typeface="Century Schoolbook" panose="02040604050505020304" pitchFamily="18" charset="0"/>
              </a:rPr>
            </a:br>
            <a:br>
              <a:rPr lang="en-US" altLang="zh-CN" sz="600">
                <a:solidFill>
                  <a:schemeClr val="tx2"/>
                </a:solidFill>
                <a:latin typeface="Century Schoolbook" panose="02040604050505020304" pitchFamily="18" charset="0"/>
              </a:rPr>
            </a:br>
            <a:r>
              <a:rPr lang="en-US" altLang="zh-CN" sz="600">
                <a:solidFill>
                  <a:schemeClr val="tx2"/>
                </a:solidFill>
                <a:latin typeface="L Helvetica Light" charset="0"/>
              </a:rPr>
              <a:t>© 2000 by Carnegie Mellon University</a:t>
            </a:r>
            <a:endParaRPr lang="en-US" altLang="zh-CN" sz="600">
              <a:solidFill>
                <a:schemeClr val="tx2"/>
              </a:solidFill>
              <a:latin typeface="L Helvetica Light" charset="0"/>
            </a:endParaRPr>
          </a:p>
        </p:txBody>
      </p:sp>
      <p:sp>
        <p:nvSpPr>
          <p:cNvPr id="34819" name="Line 6"/>
          <p:cNvSpPr>
            <a:spLocks noChangeShapeType="1"/>
          </p:cNvSpPr>
          <p:nvPr/>
        </p:nvSpPr>
        <p:spPr bwMode="auto">
          <a:xfrm>
            <a:off x="3621088" y="8810625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820" name="Picture 7" descr="logophotoshop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63538"/>
            <a:ext cx="219551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3211513" y="9045575"/>
            <a:ext cx="763587" cy="2571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144" tIns="45572" rIns="91144" bIns="45572">
            <a:spAutoFit/>
          </a:bodyPr>
          <a:lstStyle>
            <a:lvl1pPr defTabSz="93218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218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218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218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218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CN" sz="1200"/>
              <a:t>Page </a:t>
            </a:r>
            <a:fld id="{79F6BAE0-ECCE-4B3D-9217-0CFA2BB79A3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3379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41325" y="720725"/>
            <a:ext cx="6303963" cy="35464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57" name="Rectangle 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00138" y="4689475"/>
            <a:ext cx="4745037" cy="4138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7182" tIns="41975" rIns="87182" bIns="41975" numCol="1" anchor="t" anchorCtr="0" compatLnSpc="1"/>
          <a:lstStyle/>
          <a:p>
            <a:pPr lvl="0"/>
            <a:r>
              <a:rPr lang="en-US" altLang="en-US" noProof="0"/>
              <a:t>Body Text</a:t>
            </a:r>
            <a:endParaRPr lang="en-US" altLang="en-US" noProof="0"/>
          </a:p>
          <a:p>
            <a:pPr lvl="1"/>
            <a:r>
              <a:rPr lang="en-US" altLang="en-US" noProof="0"/>
              <a:t>•	Second Level</a:t>
            </a:r>
            <a:endParaRPr lang="en-US" altLang="en-US" noProof="0"/>
          </a:p>
          <a:p>
            <a:pPr lvl="2"/>
            <a:r>
              <a:rPr lang="en-US" altLang="en-US" noProof="0"/>
              <a:t>-	Third Level</a:t>
            </a:r>
            <a:endParaRPr lang="en-US" altLang="en-US" noProof="0"/>
          </a:p>
          <a:p>
            <a:pPr lvl="3"/>
            <a:r>
              <a:rPr lang="en-US" altLang="en-US" noProof="0"/>
              <a:t>-	Fourth Level</a:t>
            </a:r>
            <a:endParaRPr lang="en-US" altLang="en-US" noProof="0"/>
          </a:p>
          <a:p>
            <a:pPr lvl="4"/>
            <a:r>
              <a:rPr lang="en-US" altLang="en-US" noProof="0"/>
              <a:t>-	Fifth Level</a:t>
            </a:r>
            <a:endParaRPr lang="en-US" altLang="en-US" noProof="0"/>
          </a:p>
        </p:txBody>
      </p:sp>
      <p:sp>
        <p:nvSpPr>
          <p:cNvPr id="33797" name="Line 10"/>
          <p:cNvSpPr>
            <a:spLocks noChangeShapeType="1"/>
          </p:cNvSpPr>
          <p:nvPr/>
        </p:nvSpPr>
        <p:spPr bwMode="auto">
          <a:xfrm flipV="1">
            <a:off x="1200150" y="4557713"/>
            <a:ext cx="4667250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1203325" y="4362450"/>
            <a:ext cx="388938" cy="168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defTabSz="9874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94030" defTabSz="9874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87425" defTabSz="9874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81455" defTabSz="9874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76755" defTabSz="9874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33955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1155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48355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05555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100" b="1">
                <a:solidFill>
                  <a:srgbClr val="000000"/>
                </a:solidFill>
                <a:latin typeface="Arial" panose="020B0604020202020204" pitchFamily="34" charset="0"/>
              </a:rPr>
              <a:t>Notes</a:t>
            </a:r>
            <a:endParaRPr lang="en-US" altLang="en-US" sz="2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lnSpc>
        <a:spcPct val="89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5455" algn="l" defTabSz="955675" rtl="0" eaLnBrk="0" fontAlgn="base" hangingPunct="0">
      <a:lnSpc>
        <a:spcPct val="89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5355" algn="l" defTabSz="955675" rtl="0" eaLnBrk="0" fontAlgn="base" hangingPunct="0">
      <a:lnSpc>
        <a:spcPct val="89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2080" algn="l" defTabSz="955675" rtl="0" eaLnBrk="0" fontAlgn="base" hangingPunct="0">
      <a:lnSpc>
        <a:spcPct val="89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68805" algn="l" defTabSz="955675" rtl="0" eaLnBrk="0" fontAlgn="base" hangingPunct="0">
      <a:lnSpc>
        <a:spcPct val="89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6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6867" name="灯片编号占位符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8D873D7-06AC-48B2-A29E-2391C08869AD}" type="slidenum">
              <a:rPr kumimoji="1" lang="zh-CN" altLang="en-US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9297" y="1001034"/>
            <a:ext cx="8155781" cy="2129496"/>
          </a:xfrm>
        </p:spPr>
        <p:txBody>
          <a:bodyPr anchor="b"/>
          <a:lstStyle>
            <a:lvl1pPr algn="ctr">
              <a:defRPr sz="535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9297" y="3212651"/>
            <a:ext cx="8155781" cy="1476771"/>
          </a:xfrm>
        </p:spPr>
        <p:txBody>
          <a:bodyPr/>
          <a:lstStyle>
            <a:lvl1pPr marL="0" indent="0" algn="ctr">
              <a:buNone/>
              <a:defRPr sz="2140"/>
            </a:lvl1pPr>
            <a:lvl2pPr marL="407670" indent="0" algn="ctr">
              <a:buNone/>
              <a:defRPr sz="1785"/>
            </a:lvl2pPr>
            <a:lvl3pPr marL="815340" indent="0" algn="ctr">
              <a:buNone/>
              <a:defRPr sz="1605"/>
            </a:lvl3pPr>
            <a:lvl4pPr marL="1223645" indent="0" algn="ctr">
              <a:buNone/>
              <a:defRPr sz="1425"/>
            </a:lvl4pPr>
            <a:lvl5pPr marL="1631315" indent="0" algn="ctr">
              <a:buNone/>
              <a:defRPr sz="1425"/>
            </a:lvl5pPr>
            <a:lvl6pPr marL="2038985" indent="0" algn="ctr">
              <a:buNone/>
              <a:defRPr sz="1425"/>
            </a:lvl6pPr>
            <a:lvl7pPr marL="2446655" indent="0" algn="ctr">
              <a:buNone/>
              <a:defRPr sz="1425"/>
            </a:lvl7pPr>
            <a:lvl8pPr marL="2854325" indent="0" algn="ctr">
              <a:buNone/>
              <a:defRPr sz="1425"/>
            </a:lvl8pPr>
            <a:lvl9pPr marL="3261995" indent="0" algn="ctr">
              <a:buNone/>
              <a:defRPr sz="1425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1950" y="1524913"/>
            <a:ext cx="9379148" cy="2544351"/>
          </a:xfrm>
        </p:spPr>
        <p:txBody>
          <a:bodyPr anchor="b"/>
          <a:lstStyle>
            <a:lvl1pPr>
              <a:defRPr sz="535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1950" y="4093334"/>
            <a:ext cx="9379148" cy="1338014"/>
          </a:xfrm>
        </p:spPr>
        <p:txBody>
          <a:bodyPr/>
          <a:lstStyle>
            <a:lvl1pPr marL="0" indent="0">
              <a:buNone/>
              <a:defRPr sz="2140">
                <a:solidFill>
                  <a:schemeClr val="tx1">
                    <a:tint val="75000"/>
                  </a:schemeClr>
                </a:solidFill>
              </a:defRPr>
            </a:lvl1pPr>
            <a:lvl2pPr marL="407670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5340" indent="0">
              <a:buNone/>
              <a:defRPr sz="1605">
                <a:solidFill>
                  <a:schemeClr val="tx1">
                    <a:tint val="75000"/>
                  </a:schemeClr>
                </a:solidFill>
              </a:defRPr>
            </a:lvl3pPr>
            <a:lvl4pPr marL="122364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4pPr>
            <a:lvl5pPr marL="163131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5pPr>
            <a:lvl6pPr marL="203898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6pPr>
            <a:lvl7pPr marL="244665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7pPr>
            <a:lvl8pPr marL="285432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8pPr>
            <a:lvl9pPr marL="326199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7613" y="1628272"/>
            <a:ext cx="4621609" cy="388095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05153" y="1628272"/>
            <a:ext cx="4621609" cy="388095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9030" y="325655"/>
            <a:ext cx="9379148" cy="118226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9030" y="1499426"/>
            <a:ext cx="4600370" cy="734846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7670" indent="0">
              <a:buNone/>
              <a:defRPr sz="1785" b="1"/>
            </a:lvl2pPr>
            <a:lvl3pPr marL="815340" indent="0">
              <a:buNone/>
              <a:defRPr sz="1605" b="1"/>
            </a:lvl3pPr>
            <a:lvl4pPr marL="1223645" indent="0">
              <a:buNone/>
              <a:defRPr sz="1425" b="1"/>
            </a:lvl4pPr>
            <a:lvl5pPr marL="1631315" indent="0">
              <a:buNone/>
              <a:defRPr sz="1425" b="1"/>
            </a:lvl5pPr>
            <a:lvl6pPr marL="2038985" indent="0">
              <a:buNone/>
              <a:defRPr sz="1425" b="1"/>
            </a:lvl6pPr>
            <a:lvl7pPr marL="2446655" indent="0">
              <a:buNone/>
              <a:defRPr sz="1425" b="1"/>
            </a:lvl7pPr>
            <a:lvl8pPr marL="2854325" indent="0">
              <a:buNone/>
              <a:defRPr sz="1425" b="1"/>
            </a:lvl8pPr>
            <a:lvl9pPr marL="3261995" indent="0">
              <a:buNone/>
              <a:defRPr sz="1425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9030" y="2234272"/>
            <a:ext cx="4600370" cy="3286277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05152" y="1499426"/>
            <a:ext cx="4623026" cy="734846"/>
          </a:xfrm>
        </p:spPr>
        <p:txBody>
          <a:bodyPr anchor="b"/>
          <a:lstStyle>
            <a:lvl1pPr marL="0" indent="0">
              <a:buNone/>
              <a:defRPr sz="2140" b="1"/>
            </a:lvl1pPr>
            <a:lvl2pPr marL="407670" indent="0">
              <a:buNone/>
              <a:defRPr sz="1785" b="1"/>
            </a:lvl2pPr>
            <a:lvl3pPr marL="815340" indent="0">
              <a:buNone/>
              <a:defRPr sz="1605" b="1"/>
            </a:lvl3pPr>
            <a:lvl4pPr marL="1223645" indent="0">
              <a:buNone/>
              <a:defRPr sz="1425" b="1"/>
            </a:lvl4pPr>
            <a:lvl5pPr marL="1631315" indent="0">
              <a:buNone/>
              <a:defRPr sz="1425" b="1"/>
            </a:lvl5pPr>
            <a:lvl6pPr marL="2038985" indent="0">
              <a:buNone/>
              <a:defRPr sz="1425" b="1"/>
            </a:lvl6pPr>
            <a:lvl7pPr marL="2446655" indent="0">
              <a:buNone/>
              <a:defRPr sz="1425" b="1"/>
            </a:lvl7pPr>
            <a:lvl8pPr marL="2854325" indent="0">
              <a:buNone/>
              <a:defRPr sz="1425" b="1"/>
            </a:lvl8pPr>
            <a:lvl9pPr marL="3261995" indent="0">
              <a:buNone/>
              <a:defRPr sz="1425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05152" y="2234272"/>
            <a:ext cx="4623026" cy="3286277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9030" y="407776"/>
            <a:ext cx="3507269" cy="1427216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3026" y="880683"/>
            <a:ext cx="5505152" cy="4346777"/>
          </a:xfrm>
        </p:spPr>
        <p:txBody>
          <a:bodyPr/>
          <a:lstStyle>
            <a:lvl1pPr>
              <a:defRPr sz="2855"/>
            </a:lvl1pPr>
            <a:lvl2pPr>
              <a:defRPr sz="2495"/>
            </a:lvl2pPr>
            <a:lvl3pPr>
              <a:defRPr sz="2140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9030" y="1834991"/>
            <a:ext cx="3507269" cy="3399549"/>
          </a:xfrm>
        </p:spPr>
        <p:txBody>
          <a:bodyPr/>
          <a:lstStyle>
            <a:lvl1pPr marL="0" indent="0">
              <a:buNone/>
              <a:defRPr sz="1425"/>
            </a:lvl1pPr>
            <a:lvl2pPr marL="407670" indent="0">
              <a:buNone/>
              <a:defRPr sz="1250"/>
            </a:lvl2pPr>
            <a:lvl3pPr marL="815340" indent="0">
              <a:buNone/>
              <a:defRPr sz="1070"/>
            </a:lvl3pPr>
            <a:lvl4pPr marL="1223645" indent="0">
              <a:buNone/>
              <a:defRPr sz="890"/>
            </a:lvl4pPr>
            <a:lvl5pPr marL="1631315" indent="0">
              <a:buNone/>
              <a:defRPr sz="890"/>
            </a:lvl5pPr>
            <a:lvl6pPr marL="2038985" indent="0">
              <a:buNone/>
              <a:defRPr sz="890"/>
            </a:lvl6pPr>
            <a:lvl7pPr marL="2446655" indent="0">
              <a:buNone/>
              <a:defRPr sz="890"/>
            </a:lvl7pPr>
            <a:lvl8pPr marL="2854325" indent="0">
              <a:buNone/>
              <a:defRPr sz="890"/>
            </a:lvl8pPr>
            <a:lvl9pPr marL="3261995" indent="0">
              <a:buNone/>
              <a:defRPr sz="89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9030" y="407776"/>
            <a:ext cx="3507269" cy="1427216"/>
          </a:xfrm>
        </p:spPr>
        <p:txBody>
          <a:bodyPr anchor="b"/>
          <a:lstStyle>
            <a:lvl1pPr>
              <a:defRPr sz="2855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23026" y="880683"/>
            <a:ext cx="5505152" cy="4346777"/>
          </a:xfrm>
        </p:spPr>
        <p:txBody>
          <a:bodyPr/>
          <a:lstStyle>
            <a:lvl1pPr marL="0" indent="0">
              <a:buNone/>
              <a:defRPr sz="2855"/>
            </a:lvl1pPr>
            <a:lvl2pPr marL="407670" indent="0">
              <a:buNone/>
              <a:defRPr sz="2495"/>
            </a:lvl2pPr>
            <a:lvl3pPr marL="815340" indent="0">
              <a:buNone/>
              <a:defRPr sz="2140"/>
            </a:lvl3pPr>
            <a:lvl4pPr marL="1223645" indent="0">
              <a:buNone/>
              <a:defRPr sz="1785"/>
            </a:lvl4pPr>
            <a:lvl5pPr marL="1631315" indent="0">
              <a:buNone/>
              <a:defRPr sz="1785"/>
            </a:lvl5pPr>
            <a:lvl6pPr marL="2038985" indent="0">
              <a:buNone/>
              <a:defRPr sz="1785"/>
            </a:lvl6pPr>
            <a:lvl7pPr marL="2446655" indent="0">
              <a:buNone/>
              <a:defRPr sz="1785"/>
            </a:lvl7pPr>
            <a:lvl8pPr marL="2854325" indent="0">
              <a:buNone/>
              <a:defRPr sz="1785"/>
            </a:lvl8pPr>
            <a:lvl9pPr marL="3261995" indent="0">
              <a:buNone/>
              <a:defRPr sz="1785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9030" y="1834991"/>
            <a:ext cx="3507269" cy="3399549"/>
          </a:xfrm>
        </p:spPr>
        <p:txBody>
          <a:bodyPr/>
          <a:lstStyle>
            <a:lvl1pPr marL="0" indent="0">
              <a:buNone/>
              <a:defRPr sz="1425"/>
            </a:lvl1pPr>
            <a:lvl2pPr marL="407670" indent="0">
              <a:buNone/>
              <a:defRPr sz="1250"/>
            </a:lvl2pPr>
            <a:lvl3pPr marL="815340" indent="0">
              <a:buNone/>
              <a:defRPr sz="1070"/>
            </a:lvl3pPr>
            <a:lvl4pPr marL="1223645" indent="0">
              <a:buNone/>
              <a:defRPr sz="890"/>
            </a:lvl4pPr>
            <a:lvl5pPr marL="1631315" indent="0">
              <a:buNone/>
              <a:defRPr sz="890"/>
            </a:lvl5pPr>
            <a:lvl6pPr marL="2038985" indent="0">
              <a:buNone/>
              <a:defRPr sz="890"/>
            </a:lvl6pPr>
            <a:lvl7pPr marL="2446655" indent="0">
              <a:buNone/>
              <a:defRPr sz="890"/>
            </a:lvl7pPr>
            <a:lvl8pPr marL="2854325" indent="0">
              <a:buNone/>
              <a:defRPr sz="890"/>
            </a:lvl8pPr>
            <a:lvl9pPr marL="3261995" indent="0">
              <a:buNone/>
              <a:defRPr sz="89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81975" y="325654"/>
            <a:ext cx="2344787" cy="518356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7613" y="325654"/>
            <a:ext cx="6898432" cy="518356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175" y="5842000"/>
            <a:ext cx="10868025" cy="25717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5308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0617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5925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1170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6479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31787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7096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42404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60"/>
          </a:p>
        </p:txBody>
      </p:sp>
      <p:sp>
        <p:nvSpPr>
          <p:cNvPr id="3" name="矩形 2"/>
          <p:cNvSpPr/>
          <p:nvPr userDrawn="1"/>
        </p:nvSpPr>
        <p:spPr>
          <a:xfrm>
            <a:off x="-3175" y="6350"/>
            <a:ext cx="10877550" cy="5168900"/>
          </a:xfrm>
          <a:prstGeom prst="rect">
            <a:avLst/>
          </a:prstGeom>
          <a:gradFill>
            <a:gsLst>
              <a:gs pos="0">
                <a:srgbClr val="C3D9FF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5308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0617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5925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1170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6479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31787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7096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42404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60"/>
          </a:p>
        </p:txBody>
      </p:sp>
      <p:pic>
        <p:nvPicPr>
          <p:cNvPr id="4" name="Picture 6" descr="D:\郑爽工作\张智\yun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72"/>
          <a:stretch>
            <a:fillRect/>
          </a:stretch>
        </p:blipFill>
        <p:spPr bwMode="auto">
          <a:xfrm>
            <a:off x="-4763" y="438150"/>
            <a:ext cx="10604501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D:\郑爽工作\张智\lou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182563"/>
            <a:ext cx="4879975" cy="366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-3175" y="3979863"/>
            <a:ext cx="10874375" cy="18621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5308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0617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5925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21170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6479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31787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70960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424045" algn="l" defTabSz="1106170" rtl="0" eaLnBrk="1" latinLnBrk="0" hangingPunct="1">
              <a:defRPr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960" dirty="0"/>
          </a:p>
        </p:txBody>
      </p:sp>
      <p:pic>
        <p:nvPicPr>
          <p:cNvPr id="7" name="Picture 11" descr="D:\郑爽工作\公司logo\iscas-logo-se-05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4994275"/>
            <a:ext cx="1604962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>
          <a:xfrm>
            <a:off x="7064375" y="5789613"/>
            <a:ext cx="2168525" cy="309562"/>
          </a:xfrm>
          <a:prstGeom prst="rect">
            <a:avLst/>
          </a:prstGeom>
        </p:spPr>
        <p:txBody>
          <a:bodyPr lIns="91440" tIns="45720" rIns="91440" bIns="45720" rtlCol="0"/>
          <a:lstStyle>
            <a:lvl1pPr algn="r">
              <a:defRPr sz="1070" b="1" i="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B2C7FCD-E41F-441C-80A1-B6CBFA06A58E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7A8FB-CE6B-4CBA-964A-3F1A3AD5C4D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E3CF8-75E9-49F3-B28A-A728225AC29F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D1952-EE45-4D4F-9BFE-045634817C19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FB15C-78B2-4C81-BD45-8C901A6D3573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51DDF-E11F-487A-8609-9242D152E9DB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6BCEE-D69A-4DD7-9800-AD1C52705846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6EB4E-D537-4355-8C5F-55111DDE3E2F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9936A-E18B-433E-8C3E-C01F47475876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D021-47CB-4441-A647-501AA0DEBFEA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©2021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-307814" y="2445915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7FD71-C774-498D-B264-0F7030698F6D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5" y="333375"/>
            <a:ext cx="2295525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7"/>
          <p:cNvCxnSpPr/>
          <p:nvPr userDrawn="1"/>
        </p:nvCxnSpPr>
        <p:spPr>
          <a:xfrm flipV="1">
            <a:off x="512763" y="703263"/>
            <a:ext cx="72818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 flipV="1">
            <a:off x="0" y="5788025"/>
            <a:ext cx="10874375" cy="79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7" name="矩形 6"/>
          <p:cNvSpPr/>
          <p:nvPr userDrawn="1"/>
        </p:nvSpPr>
        <p:spPr>
          <a:xfrm flipV="1">
            <a:off x="0" y="5691188"/>
            <a:ext cx="10874375" cy="3968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1605"/>
          </a:p>
        </p:txBody>
      </p:sp>
      <p:sp>
        <p:nvSpPr>
          <p:cNvPr id="8" name="页脚占位符 2"/>
          <p:cNvSpPr txBox="1"/>
          <p:nvPr userDrawn="1"/>
        </p:nvSpPr>
        <p:spPr>
          <a:xfrm>
            <a:off x="3594100" y="5794375"/>
            <a:ext cx="4713288" cy="407988"/>
          </a:xfrm>
          <a:prstGeom prst="rect">
            <a:avLst/>
          </a:prstGeom>
        </p:spPr>
        <p:txBody>
          <a:bodyPr lIns="108738" tIns="54368" rIns="108738" bIns="54368" anchor="ctr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©2021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C922F-4813-4762-B7D2-1306BED48F5A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20129" y="120296"/>
            <a:ext cx="9379148" cy="644191"/>
          </a:xfrm>
        </p:spPr>
        <p:txBody>
          <a:bodyPr>
            <a:normAutofit/>
          </a:bodyPr>
          <a:lstStyle>
            <a:lvl1pPr>
              <a:defRPr sz="2495" b="1">
                <a:solidFill>
                  <a:srgbClr val="016D9A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30188"/>
            <a:ext cx="512763" cy="4730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785" dirty="0"/>
          </a:p>
        </p:txBody>
      </p:sp>
      <p:sp>
        <p:nvSpPr>
          <p:cNvPr id="2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630335" y="230318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428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12620" y="1030455"/>
            <a:ext cx="9972183" cy="4855866"/>
          </a:xfrm>
          <a:prstGeom prst="rect">
            <a:avLst/>
          </a:prstGeom>
          <a:ln w="12700" cmpd="sng">
            <a:noFill/>
          </a:ln>
        </p:spPr>
        <p:txBody>
          <a:bodyPr/>
          <a:lstStyle>
            <a:lvl1pPr marL="0" indent="-321310" algn="l">
              <a:buFont typeface="Arial" panose="020B0604020202020204" pitchFamily="34" charset="0"/>
              <a:buChar char="•"/>
              <a:defRPr sz="2495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3715" indent="-203835">
              <a:buFont typeface="Wingdings" panose="05000000000000000000" pitchFamily="2" charset="2"/>
              <a:buChar char="Ø"/>
              <a:defRPr sz="1785"/>
            </a:lvl2pPr>
            <a:lvl3pPr marL="899160" indent="-203835">
              <a:buFont typeface="Wingdings" panose="05000000000000000000" pitchFamily="2" charset="2"/>
              <a:buChar char="ü"/>
              <a:defRPr sz="1425">
                <a:solidFill>
                  <a:schemeClr val="bg2">
                    <a:lumMod val="25000"/>
                  </a:schemeClr>
                </a:solidFill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30188"/>
            <a:ext cx="512763" cy="4730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785" dirty="0"/>
          </a:p>
        </p:txBody>
      </p:sp>
      <p:sp>
        <p:nvSpPr>
          <p:cNvPr id="2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630335" y="230318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anchor="ctr"/>
          <a:lstStyle>
            <a:lvl1pPr marL="0" indent="0" algn="l">
              <a:buNone/>
              <a:defRPr sz="428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12620" y="1030455"/>
            <a:ext cx="9972183" cy="4855866"/>
          </a:xfrm>
          <a:prstGeom prst="rect">
            <a:avLst/>
          </a:prstGeom>
          <a:ln w="12700" cmpd="sng">
            <a:noFill/>
          </a:ln>
        </p:spPr>
        <p:txBody>
          <a:bodyPr/>
          <a:lstStyle>
            <a:lvl1pPr marL="0" indent="-321310" algn="l">
              <a:buFont typeface="Arial" panose="020B0604020202020204" pitchFamily="34" charset="0"/>
              <a:buChar char="•"/>
              <a:defRPr sz="2495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3715" indent="-203835">
              <a:buFont typeface="Wingdings" panose="05000000000000000000" pitchFamily="2" charset="2"/>
              <a:buChar char="Ø"/>
              <a:defRPr sz="1785"/>
            </a:lvl2pPr>
            <a:lvl3pPr marL="899160" indent="-203835">
              <a:buFont typeface="Wingdings" panose="05000000000000000000" pitchFamily="2" charset="2"/>
              <a:buChar char="ü"/>
              <a:defRPr sz="1425">
                <a:solidFill>
                  <a:schemeClr val="bg2">
                    <a:lumMod val="25000"/>
                  </a:schemeClr>
                </a:solidFill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37" y="332975"/>
            <a:ext cx="2295073" cy="344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 flipV="1">
            <a:off x="512623" y="702641"/>
            <a:ext cx="7281826" cy="103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 flipV="1">
            <a:off x="0" y="5788152"/>
            <a:ext cx="10874375" cy="792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5"/>
          </a:p>
        </p:txBody>
      </p:sp>
      <p:sp>
        <p:nvSpPr>
          <p:cNvPr id="10" name="矩形 9"/>
          <p:cNvSpPr/>
          <p:nvPr userDrawn="1"/>
        </p:nvSpPr>
        <p:spPr>
          <a:xfrm flipV="1">
            <a:off x="0" y="5690741"/>
            <a:ext cx="10874375" cy="407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5"/>
          </a:p>
        </p:txBody>
      </p:sp>
      <p:sp>
        <p:nvSpPr>
          <p:cNvPr id="11" name="页脚占位符 2"/>
          <p:cNvSpPr txBox="1"/>
          <p:nvPr userDrawn="1"/>
        </p:nvSpPr>
        <p:spPr>
          <a:xfrm>
            <a:off x="3594590" y="5793814"/>
            <a:ext cx="4712229" cy="407776"/>
          </a:xfrm>
          <a:prstGeom prst="rect">
            <a:avLst/>
          </a:prstGeom>
        </p:spPr>
        <p:txBody>
          <a:bodyPr lIns="108738" tIns="54368" rIns="108738" bIns="54368" anchor="ctr" anchorCtr="0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©2020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36049" y="230318"/>
            <a:ext cx="4342005" cy="47232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14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页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5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13633"/>
            <a:ext cx="1087438" cy="581845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88900" sx="102000" sy="102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indent="0">
              <a:buNone/>
              <a:defRPr sz="428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3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196590" y="213633"/>
            <a:ext cx="5739561" cy="58184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330" b="1">
                <a:solidFill>
                  <a:schemeClr val="accent1">
                    <a:lumMod val="75000"/>
                  </a:schemeClr>
                </a:solidFill>
                <a:effectLst>
                  <a:outerShdw blurRad="889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flipV="1">
            <a:off x="0" y="5788153"/>
            <a:ext cx="10874375" cy="792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40"/>
          </a:p>
        </p:txBody>
      </p:sp>
      <p:sp>
        <p:nvSpPr>
          <p:cNvPr id="5" name="矩形 4"/>
          <p:cNvSpPr/>
          <p:nvPr userDrawn="1"/>
        </p:nvSpPr>
        <p:spPr>
          <a:xfrm flipV="1">
            <a:off x="0" y="5690741"/>
            <a:ext cx="10874375" cy="407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4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895" y="72299"/>
            <a:ext cx="2939480" cy="25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2"/>
          <p:cNvSpPr txBox="1"/>
          <p:nvPr userDrawn="1"/>
        </p:nvSpPr>
        <p:spPr>
          <a:xfrm>
            <a:off x="3594590" y="5793814"/>
            <a:ext cx="4712229" cy="407776"/>
          </a:xfrm>
          <a:prstGeom prst="rect">
            <a:avLst/>
          </a:prstGeom>
        </p:spPr>
        <p:txBody>
          <a:bodyPr lIns="144983" tIns="72491" rIns="144983" bIns="72491" anchor="ctr" anchorCtr="0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665" dirty="0">
                <a:solidFill>
                  <a:srgbClr val="C00000"/>
                </a:solidFill>
              </a:rPr>
              <a:t>©2019 ISCAS. All rights reserved.</a:t>
            </a:r>
            <a:endParaRPr lang="en-US" altLang="zh-CN" sz="1665" dirty="0">
              <a:solidFill>
                <a:srgbClr val="C0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30337" y="230320"/>
            <a:ext cx="10039445" cy="47232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321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37" y="332975"/>
            <a:ext cx="2295073" cy="344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 flipV="1">
            <a:off x="512623" y="702641"/>
            <a:ext cx="7281826" cy="103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 flipV="1">
            <a:off x="0" y="5788152"/>
            <a:ext cx="10874375" cy="792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5"/>
          </a:p>
        </p:txBody>
      </p:sp>
      <p:sp>
        <p:nvSpPr>
          <p:cNvPr id="10" name="矩形 9"/>
          <p:cNvSpPr/>
          <p:nvPr userDrawn="1"/>
        </p:nvSpPr>
        <p:spPr>
          <a:xfrm flipV="1">
            <a:off x="0" y="5690741"/>
            <a:ext cx="10874375" cy="407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5"/>
          </a:p>
        </p:txBody>
      </p:sp>
      <p:sp>
        <p:nvSpPr>
          <p:cNvPr id="11" name="页脚占位符 2"/>
          <p:cNvSpPr txBox="1"/>
          <p:nvPr userDrawn="1"/>
        </p:nvSpPr>
        <p:spPr>
          <a:xfrm>
            <a:off x="4475041" y="5793814"/>
            <a:ext cx="3831778" cy="407776"/>
          </a:xfrm>
          <a:prstGeom prst="rect">
            <a:avLst/>
          </a:prstGeom>
        </p:spPr>
        <p:txBody>
          <a:bodyPr lIns="108738" tIns="54368" rIns="108738" bIns="54368" anchor="ctr" anchorCtr="0"/>
          <a:lstStyle>
            <a:defPPr>
              <a:defRPr lang="zh-CN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sz="1250" dirty="0">
                <a:solidFill>
                  <a:srgbClr val="C00000"/>
                </a:solidFill>
              </a:rPr>
              <a:t>©2022 ISCAS. All rights reserved.</a:t>
            </a:r>
            <a:endParaRPr lang="en-US" altLang="zh-CN" sz="125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7614" y="325655"/>
            <a:ext cx="9379148" cy="1182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7614" y="1628272"/>
            <a:ext cx="9379148" cy="3880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7613" y="5669218"/>
            <a:ext cx="2446734" cy="3256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E76A9-962A-0E49-88F7-3744CD9300C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02137" y="5669218"/>
            <a:ext cx="3670102" cy="3256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80028" y="5669218"/>
            <a:ext cx="2446734" cy="3256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25E43-A4AA-5640-B378-FAD780E8D54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txStyles>
    <p:titleStyle>
      <a:lvl1pPr algn="l" defTabSz="815340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35" indent="-203835" algn="l" defTabSz="815340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2495" kern="1200">
          <a:solidFill>
            <a:schemeClr val="tx1"/>
          </a:solidFill>
          <a:latin typeface="+mn-lt"/>
          <a:ea typeface="+mn-ea"/>
          <a:cs typeface="+mn-cs"/>
        </a:defRPr>
      </a:lvl1pPr>
      <a:lvl2pPr marL="611505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19175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7480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150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820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490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160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5830" indent="-203835" algn="l" defTabSz="81534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670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340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645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315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985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55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325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1995" algn="l" defTabSz="815340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hyperlink" Target="https://flk.npc.gov.cn/%EF%BC%8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551815" y="1619885"/>
            <a:ext cx="5955030" cy="1438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4400" dirty="0">
                <a:latin typeface="方正大黑简体" panose="02010601030101010101" pitchFamily="2" charset="-122"/>
                <a:ea typeface="方正大黑简体" panose="02010601030101010101" pitchFamily="2" charset="-122"/>
              </a:rPr>
              <a:t>算法试题</a:t>
            </a:r>
            <a:endParaRPr lang="zh-CN" altLang="en-US" sz="4400" dirty="0"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5842" name="文本占位符 4"/>
          <p:cNvSpPr>
            <a:spLocks noGrp="1"/>
          </p:cNvSpPr>
          <p:nvPr>
            <p:ph type="body" sz="quarter" idx="4294967295"/>
          </p:nvPr>
        </p:nvSpPr>
        <p:spPr>
          <a:xfrm>
            <a:off x="3425825" y="4048125"/>
            <a:ext cx="7448550" cy="1749425"/>
          </a:xfrm>
        </p:spPr>
        <p:txBody>
          <a:bodyPr/>
          <a:lstStyle/>
          <a:p>
            <a:pPr marL="0" indent="0" algn="ctr">
              <a:buFont typeface="Wingdings 2" panose="05020102010507070707" pitchFamily="18" charset="2"/>
              <a:buNone/>
            </a:pPr>
            <a:endParaRPr kumimoji="1" lang="en-US" altLang="zh-CN" sz="21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kumimoji="1" lang="zh-CN" altLang="en-US" sz="2100" dirty="0">
                <a:solidFill>
                  <a:schemeClr val="bg1"/>
                </a:solidFill>
                <a:latin typeface="宋体" panose="02010600030101010101" pitchFamily="2" charset="-122"/>
              </a:rPr>
              <a:t>智能博弈重点实验室</a:t>
            </a:r>
            <a:endParaRPr kumimoji="1" lang="en-US" altLang="zh-CN" sz="21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kumimoji="1" lang="zh-CN" altLang="en-US" sz="2100" dirty="0">
                <a:solidFill>
                  <a:schemeClr val="bg1"/>
                </a:solidFill>
                <a:latin typeface="宋体" panose="02010600030101010101" pitchFamily="2" charset="-122"/>
              </a:rPr>
              <a:t>中国科学院软件研究所</a:t>
            </a:r>
            <a:endParaRPr kumimoji="1" lang="en-US" altLang="zh-CN" sz="21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kumimoji="1" lang="en-US" altLang="zh-CN" sz="2100" dirty="0">
                <a:solidFill>
                  <a:schemeClr val="bg1"/>
                </a:solidFill>
                <a:latin typeface="宋体" panose="02010600030101010101" pitchFamily="2" charset="-122"/>
              </a:rPr>
              <a:t>2025</a:t>
            </a:r>
            <a:r>
              <a:rPr kumimoji="1" lang="zh-CN" altLang="en-US" sz="2100" dirty="0">
                <a:solidFill>
                  <a:schemeClr val="bg1"/>
                </a:solidFill>
                <a:latin typeface="宋体" panose="02010600030101010101" pitchFamily="2" charset="-122"/>
              </a:rPr>
              <a:t>年</a:t>
            </a:r>
            <a:endParaRPr kumimoji="1" lang="en-US" altLang="zh-CN" sz="21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marL="0" indent="0"/>
            <a:endParaRPr kumimoji="1" lang="en-US" altLang="zh-CN" sz="21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marL="0" indent="0"/>
            <a:endParaRPr kumimoji="1" lang="en-US" altLang="zh-CN" sz="21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电梯</a:t>
            </a:r>
            <a:r>
              <a:rPr lang="en-US" altLang="zh-CN" dirty="0"/>
              <a:t>IoT</a:t>
            </a:r>
            <a:r>
              <a:rPr lang="zh-CN" altLang="en-US" dirty="0"/>
              <a:t>故障检测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979633" y="1635380"/>
            <a:ext cx="5629910" cy="2977958"/>
            <a:chOff x="921221" y="1186724"/>
            <a:chExt cx="3339807" cy="176660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1221" y="1190356"/>
              <a:ext cx="1174988" cy="1566651"/>
            </a:xfrm>
            <a:prstGeom prst="rect">
              <a:avLst/>
            </a:prstGeom>
          </p:spPr>
        </p:pic>
        <p:sp>
          <p:nvSpPr>
            <p:cNvPr id="6" name="线形标注 1 12"/>
            <p:cNvSpPr/>
            <p:nvPr/>
          </p:nvSpPr>
          <p:spPr>
            <a:xfrm>
              <a:off x="2329319" y="1186724"/>
              <a:ext cx="1931709" cy="1610008"/>
            </a:xfrm>
            <a:prstGeom prst="borderCallout1">
              <a:avLst>
                <a:gd name="adj1" fmla="val 18750"/>
                <a:gd name="adj2" fmla="val -8333"/>
                <a:gd name="adj3" fmla="val 243087"/>
                <a:gd name="adj4" fmla="val -214498"/>
              </a:avLst>
            </a:prstGeom>
            <a:blipFill>
              <a:blip r:embed="rId2"/>
              <a:stretch>
                <a:fillRect/>
              </a:stretch>
            </a:blip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20"/>
            </a:p>
          </p:txBody>
        </p:sp>
        <p:sp>
          <p:nvSpPr>
            <p:cNvPr id="7" name="椭圆 6"/>
            <p:cNvSpPr/>
            <p:nvPr/>
          </p:nvSpPr>
          <p:spPr>
            <a:xfrm>
              <a:off x="1474706" y="2126224"/>
              <a:ext cx="55271" cy="55271"/>
            </a:xfrm>
            <a:prstGeom prst="ellipse">
              <a:avLst/>
            </a:prstGeom>
            <a:solidFill>
              <a:schemeClr val="accent4">
                <a:alpha val="80014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2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731261" y="1288717"/>
              <a:ext cx="856064" cy="179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75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6</a:t>
              </a:r>
              <a:r>
                <a:rPr kumimoji="1" lang="zh-CN" altLang="en-US" sz="1175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轴</a:t>
              </a:r>
              <a:r>
                <a:rPr kumimoji="1" lang="en-US" altLang="zh-CN" sz="1175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MEMS</a:t>
              </a:r>
              <a:r>
                <a:rPr kumimoji="1" lang="zh-CN" altLang="en-US" sz="1175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传感器</a:t>
              </a:r>
              <a:endParaRPr kumimoji="1" lang="zh-CN" altLang="en-US" sz="1175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024163" y="1693561"/>
              <a:ext cx="167042" cy="16704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20"/>
            </a:p>
          </p:txBody>
        </p:sp>
        <p:sp>
          <p:nvSpPr>
            <p:cNvPr id="10" name="椭圆 9"/>
            <p:cNvSpPr/>
            <p:nvPr/>
          </p:nvSpPr>
          <p:spPr>
            <a:xfrm>
              <a:off x="1764682" y="2167444"/>
              <a:ext cx="165771" cy="1657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2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82819" y="2774173"/>
              <a:ext cx="713247" cy="179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75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数据采集现场</a:t>
              </a:r>
              <a:endParaRPr kumimoji="1" lang="zh-CN" altLang="en-US" sz="1175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88" t="24849" r="69360" b="11956"/>
            <a:stretch>
              <a:fillRect/>
            </a:stretch>
          </p:blipFill>
          <p:spPr bwMode="auto">
            <a:xfrm>
              <a:off x="2334152" y="1899537"/>
              <a:ext cx="496395" cy="529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文本框 12"/>
            <p:cNvSpPr txBox="1"/>
            <p:nvPr/>
          </p:nvSpPr>
          <p:spPr>
            <a:xfrm>
              <a:off x="2773914" y="2059742"/>
              <a:ext cx="1086174" cy="27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175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工业采集网关</a:t>
              </a:r>
              <a:endParaRPr kumimoji="1" lang="zh-CN" altLang="en-US" sz="1175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132638" y="1439832"/>
            <a:ext cx="4275277" cy="361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电梯安装</a:t>
            </a:r>
            <a:r>
              <a:rPr lang="en-US" altLang="zh-CN" sz="1400" dirty="0"/>
              <a:t>MEMS</a:t>
            </a:r>
            <a:r>
              <a:rPr lang="zh-CN" altLang="en-US" sz="1400" dirty="0"/>
              <a:t>传感器，采集</a:t>
            </a:r>
            <a:r>
              <a:rPr lang="en-US" altLang="zh-CN" sz="1400" dirty="0"/>
              <a:t>X</a:t>
            </a:r>
            <a:r>
              <a:rPr lang="zh-CN" altLang="en-US" sz="1400" dirty="0"/>
              <a:t>、</a:t>
            </a:r>
            <a:r>
              <a:rPr lang="en-US" altLang="zh-CN" sz="1400" dirty="0"/>
              <a:t>Y</a:t>
            </a:r>
            <a:r>
              <a:rPr lang="zh-CN" altLang="en-US" sz="1400" dirty="0"/>
              <a:t>、</a:t>
            </a:r>
            <a:r>
              <a:rPr lang="en-US" altLang="zh-CN" sz="1400" dirty="0"/>
              <a:t>Z</a:t>
            </a:r>
            <a:r>
              <a:rPr lang="zh-CN" altLang="en-US" sz="1400" dirty="0"/>
              <a:t>（</a:t>
            </a:r>
            <a:r>
              <a:rPr lang="en-US" altLang="zh-CN" sz="1400" dirty="0"/>
              <a:t>X</a:t>
            </a:r>
            <a:r>
              <a:rPr lang="zh-CN" altLang="en-US" sz="1400" dirty="0"/>
              <a:t>：开关门方向，</a:t>
            </a:r>
            <a:r>
              <a:rPr lang="en-US" altLang="zh-CN" sz="1400" dirty="0"/>
              <a:t>Y:</a:t>
            </a:r>
            <a:r>
              <a:rPr lang="zh-CN" altLang="en-US" sz="1400" dirty="0"/>
              <a:t>垂直上下方向，</a:t>
            </a:r>
            <a:r>
              <a:rPr lang="en-US" altLang="zh-CN" sz="1400" dirty="0"/>
              <a:t>Z</a:t>
            </a:r>
            <a:r>
              <a:rPr lang="zh-CN" altLang="en-US" sz="1400" dirty="0"/>
              <a:t>：门进出方向）三轴加速度数据，频率为</a:t>
            </a:r>
            <a:r>
              <a:rPr lang="en-US" altLang="zh-CN" sz="1400" dirty="0"/>
              <a:t>5Hz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现已完成</a:t>
            </a:r>
            <a:r>
              <a:rPr lang="en-US" altLang="zh-CN" sz="1400" dirty="0"/>
              <a:t>6</a:t>
            </a:r>
            <a:r>
              <a:rPr lang="zh-CN" altLang="en-US" sz="1400" dirty="0"/>
              <a:t>台电梯</a:t>
            </a:r>
            <a:r>
              <a:rPr lang="en-US" altLang="zh-CN" sz="1400" dirty="0"/>
              <a:t>240</a:t>
            </a:r>
            <a:r>
              <a:rPr lang="zh-CN" altLang="en-US" sz="1400" dirty="0"/>
              <a:t>个正常数据点（一个数据点为一次正常开关门过程）和</a:t>
            </a:r>
            <a:r>
              <a:rPr lang="en-US" altLang="zh-CN" sz="1400" dirty="0"/>
              <a:t>6</a:t>
            </a:r>
            <a:r>
              <a:rPr lang="zh-CN" altLang="en-US" sz="1400" dirty="0"/>
              <a:t>台电梯</a:t>
            </a:r>
            <a:r>
              <a:rPr lang="en-US" altLang="zh-CN" sz="1400" dirty="0"/>
              <a:t>240</a:t>
            </a:r>
            <a:r>
              <a:rPr lang="zh-CN" altLang="en-US" sz="1400" dirty="0"/>
              <a:t>个故障数据点（完整的故障模拟过程）采集标注工作。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正常运行曲线绘制（</a:t>
            </a:r>
            <a:r>
              <a:rPr lang="en-US" altLang="zh-CN" sz="1400" dirty="0"/>
              <a:t>X</a:t>
            </a:r>
            <a:r>
              <a:rPr lang="zh-CN" altLang="en-US" sz="1400" dirty="0"/>
              <a:t>轴加速度、</a:t>
            </a:r>
            <a:r>
              <a:rPr lang="en-US" altLang="zh-CN" sz="1400" dirty="0"/>
              <a:t>X</a:t>
            </a:r>
            <a:r>
              <a:rPr lang="zh-CN" altLang="en-US" sz="1400" dirty="0"/>
              <a:t>轴速度、</a:t>
            </a:r>
            <a:r>
              <a:rPr lang="en-US" altLang="zh-CN" sz="1400" dirty="0"/>
              <a:t>X</a:t>
            </a:r>
            <a:r>
              <a:rPr lang="zh-CN" altLang="en-US" sz="1400" dirty="0"/>
              <a:t>轴位移；</a:t>
            </a:r>
            <a:r>
              <a:rPr lang="en-US" altLang="zh-CN" sz="1400" dirty="0"/>
              <a:t> Y</a:t>
            </a:r>
            <a:r>
              <a:rPr lang="zh-CN" altLang="en-US" sz="1400" dirty="0"/>
              <a:t>轴加速度、</a:t>
            </a:r>
            <a:r>
              <a:rPr lang="en-US" altLang="zh-CN" sz="1400" dirty="0"/>
              <a:t>Y</a:t>
            </a:r>
            <a:r>
              <a:rPr lang="zh-CN" altLang="en-US" sz="1400" dirty="0"/>
              <a:t>轴速度、</a:t>
            </a:r>
            <a:r>
              <a:rPr lang="en-US" altLang="zh-CN" sz="1400" dirty="0"/>
              <a:t>Y</a:t>
            </a:r>
            <a:r>
              <a:rPr lang="zh-CN" altLang="en-US" sz="1400" dirty="0"/>
              <a:t>轴位移）</a:t>
            </a:r>
            <a:r>
              <a:rPr lang="en-US" altLang="zh-CN" sz="1400" dirty="0"/>
              <a:t>,</a:t>
            </a:r>
            <a:r>
              <a:rPr lang="zh-CN" altLang="en-US" sz="1400" dirty="0"/>
              <a:t>要求数据有滤波处理，曲线平滑</a:t>
            </a:r>
            <a:endParaRPr lang="en-US" altLang="zh-C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/>
              <a:t>内置检测算法能区分正常状态与故障状态（分类问题）</a:t>
            </a:r>
            <a:endParaRPr lang="zh-CN" altLang="en-US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978129" y="102190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算法目标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电梯</a:t>
            </a:r>
            <a:r>
              <a:rPr lang="en-US" altLang="zh-CN" dirty="0"/>
              <a:t>IoT</a:t>
            </a:r>
            <a:r>
              <a:rPr lang="zh-CN" altLang="en-US" dirty="0"/>
              <a:t>故障检测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172908" y="1163212"/>
            <a:ext cx="6528558" cy="3790214"/>
            <a:chOff x="2057543" y="1417165"/>
            <a:chExt cx="6528558" cy="3790214"/>
          </a:xfrm>
        </p:grpSpPr>
        <p:pic>
          <p:nvPicPr>
            <p:cNvPr id="4" name="图片 3" descr="图片包含 图表&#10;&#10;AI 生成的内容可能不正确。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7543" y="1417165"/>
              <a:ext cx="6528558" cy="3449831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2785082" y="4868825"/>
              <a:ext cx="57246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运行曲线样例：曲线运行状态能与到达楼层、加速、减速对应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电梯</a:t>
            </a:r>
            <a:r>
              <a:rPr lang="en-US" altLang="zh-CN" dirty="0"/>
              <a:t>IoT</a:t>
            </a:r>
            <a:r>
              <a:rPr lang="zh-CN" altLang="en-US" dirty="0"/>
              <a:t>故障检测</a:t>
            </a:r>
            <a:endParaRPr lang="zh-CN" altLang="en-US" dirty="0"/>
          </a:p>
        </p:txBody>
      </p:sp>
      <p:pic>
        <p:nvPicPr>
          <p:cNvPr id="3" name="图形 2" descr="电梯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3263" y="3058319"/>
            <a:ext cx="907730" cy="90773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287976" y="1184771"/>
            <a:ext cx="5624157" cy="3673416"/>
            <a:chOff x="3897577" y="794741"/>
            <a:chExt cx="6257130" cy="5268515"/>
          </a:xfrm>
        </p:grpSpPr>
        <p:sp>
          <p:nvSpPr>
            <p:cNvPr id="5" name="任意形状 16"/>
            <p:cNvSpPr/>
            <p:nvPr/>
          </p:nvSpPr>
          <p:spPr>
            <a:xfrm rot="17692822">
              <a:off x="3168469" y="3640435"/>
              <a:ext cx="1484144" cy="25927"/>
            </a:xfrm>
            <a:custGeom>
              <a:avLst/>
              <a:gdLst>
                <a:gd name="connsiteX0" fmla="*/ 0 w 1484144"/>
                <a:gd name="connsiteY0" fmla="*/ 12963 h 25927"/>
                <a:gd name="connsiteX1" fmla="*/ 1484144 w 1484144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4144" h="25927">
                  <a:moveTo>
                    <a:pt x="0" y="12963"/>
                  </a:moveTo>
                  <a:lnTo>
                    <a:pt x="1484144" y="12963"/>
                  </a:lnTo>
                </a:path>
              </a:pathLst>
            </a:custGeom>
            <a:noFill/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7667" tIns="-24141" rIns="717669" bIns="-2414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6" name="任意形状 17"/>
            <p:cNvSpPr/>
            <p:nvPr/>
          </p:nvSpPr>
          <p:spPr>
            <a:xfrm>
              <a:off x="4222749" y="2589939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故障模拟</a:t>
              </a:r>
              <a:endParaRPr lang="zh-CN" altLang="en-US" sz="1600" kern="1200" dirty="0"/>
            </a:p>
          </p:txBody>
        </p:sp>
        <p:sp>
          <p:nvSpPr>
            <p:cNvPr id="7" name="任意形状 18"/>
            <p:cNvSpPr/>
            <p:nvPr/>
          </p:nvSpPr>
          <p:spPr>
            <a:xfrm rot="17350740">
              <a:off x="5145653" y="2069637"/>
              <a:ext cx="1900692" cy="25927"/>
            </a:xfrm>
            <a:custGeom>
              <a:avLst/>
              <a:gdLst>
                <a:gd name="connsiteX0" fmla="*/ 0 w 1900692"/>
                <a:gd name="connsiteY0" fmla="*/ 12963 h 25927"/>
                <a:gd name="connsiteX1" fmla="*/ 1900692 w 1900692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0692" h="25927">
                  <a:moveTo>
                    <a:pt x="0" y="12963"/>
                  </a:moveTo>
                  <a:lnTo>
                    <a:pt x="1900692" y="12963"/>
                  </a:lnTo>
                </a:path>
              </a:pathLst>
            </a:custGeom>
            <a:noFill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5528" tIns="-34554" rIns="915529" bIns="-3455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8" name="任意形状 19"/>
            <p:cNvSpPr/>
            <p:nvPr/>
          </p:nvSpPr>
          <p:spPr>
            <a:xfrm>
              <a:off x="6408208" y="794741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异常急停</a:t>
              </a:r>
              <a:endParaRPr lang="zh-CN" altLang="en-US" sz="1600" kern="1200" dirty="0"/>
            </a:p>
          </p:txBody>
        </p:sp>
        <p:sp>
          <p:nvSpPr>
            <p:cNvPr id="9" name="任意形状 20"/>
            <p:cNvSpPr/>
            <p:nvPr/>
          </p:nvSpPr>
          <p:spPr>
            <a:xfrm>
              <a:off x="7969250" y="1172038"/>
              <a:ext cx="624416" cy="25927"/>
            </a:xfrm>
            <a:custGeom>
              <a:avLst/>
              <a:gdLst>
                <a:gd name="connsiteX0" fmla="*/ 0 w 624416"/>
                <a:gd name="connsiteY0" fmla="*/ 12963 h 25927"/>
                <a:gd name="connsiteX1" fmla="*/ 624416 w 624416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416" h="25927">
                  <a:moveTo>
                    <a:pt x="0" y="12963"/>
                  </a:moveTo>
                  <a:lnTo>
                    <a:pt x="624416" y="12963"/>
                  </a:lnTo>
                </a:path>
              </a:pathLst>
            </a:custGeom>
            <a:noFill/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9298" tIns="-2647" rIns="309298" bIns="-264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10" name="任意形状 21"/>
            <p:cNvSpPr/>
            <p:nvPr/>
          </p:nvSpPr>
          <p:spPr>
            <a:xfrm>
              <a:off x="8593666" y="794741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/>
                <a:t>100%</a:t>
              </a:r>
              <a:r>
                <a:rPr lang="zh-CN" altLang="en-US" sz="1600" kern="1200" dirty="0"/>
                <a:t>识别异常</a:t>
              </a:r>
              <a:endParaRPr lang="zh-CN" altLang="en-US" sz="1600" kern="1200" dirty="0"/>
            </a:p>
          </p:txBody>
        </p:sp>
        <p:sp>
          <p:nvSpPr>
            <p:cNvPr id="11" name="任意形状 22"/>
            <p:cNvSpPr/>
            <p:nvPr/>
          </p:nvSpPr>
          <p:spPr>
            <a:xfrm rot="18289469">
              <a:off x="5549287" y="2518436"/>
              <a:ext cx="1093425" cy="25927"/>
            </a:xfrm>
            <a:custGeom>
              <a:avLst/>
              <a:gdLst>
                <a:gd name="connsiteX0" fmla="*/ 0 w 1093425"/>
                <a:gd name="connsiteY0" fmla="*/ 12963 h 25927"/>
                <a:gd name="connsiteX1" fmla="*/ 1093425 w 1093425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3425" h="25927">
                  <a:moveTo>
                    <a:pt x="0" y="12963"/>
                  </a:moveTo>
                  <a:lnTo>
                    <a:pt x="1093425" y="12963"/>
                  </a:lnTo>
                </a:path>
              </a:pathLst>
            </a:custGeom>
            <a:noFill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2076" tIns="-14372" rIns="532077" bIns="-1437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12" name="任意形状 23"/>
            <p:cNvSpPr/>
            <p:nvPr/>
          </p:nvSpPr>
          <p:spPr>
            <a:xfrm>
              <a:off x="6408208" y="1692340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厢体晃动</a:t>
              </a:r>
              <a:endParaRPr lang="zh-CN" altLang="en-US" sz="1600" kern="1200" dirty="0"/>
            </a:p>
          </p:txBody>
        </p:sp>
        <p:sp>
          <p:nvSpPr>
            <p:cNvPr id="13" name="任意形状 24"/>
            <p:cNvSpPr/>
            <p:nvPr/>
          </p:nvSpPr>
          <p:spPr>
            <a:xfrm>
              <a:off x="7969250" y="2069637"/>
              <a:ext cx="624416" cy="25927"/>
            </a:xfrm>
            <a:custGeom>
              <a:avLst/>
              <a:gdLst>
                <a:gd name="connsiteX0" fmla="*/ 0 w 624416"/>
                <a:gd name="connsiteY0" fmla="*/ 12963 h 25927"/>
                <a:gd name="connsiteX1" fmla="*/ 624416 w 624416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416" h="25927">
                  <a:moveTo>
                    <a:pt x="0" y="12963"/>
                  </a:moveTo>
                  <a:lnTo>
                    <a:pt x="624416" y="12963"/>
                  </a:lnTo>
                </a:path>
              </a:pathLst>
            </a:custGeom>
            <a:noFill/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9298" tIns="-2647" rIns="309298" bIns="-264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14" name="任意形状 25"/>
            <p:cNvSpPr/>
            <p:nvPr/>
          </p:nvSpPr>
          <p:spPr>
            <a:xfrm>
              <a:off x="8593666" y="1692340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/>
                <a:t>97%</a:t>
              </a:r>
              <a:r>
                <a:rPr lang="zh-CN" altLang="en-US" sz="1600" kern="1200" dirty="0"/>
                <a:t>识别异常</a:t>
              </a:r>
              <a:endParaRPr lang="zh-CN" altLang="en-US" sz="1600" kern="1200" dirty="0"/>
            </a:p>
          </p:txBody>
        </p:sp>
        <p:sp>
          <p:nvSpPr>
            <p:cNvPr id="15" name="任意形状 26"/>
            <p:cNvSpPr/>
            <p:nvPr/>
          </p:nvSpPr>
          <p:spPr>
            <a:xfrm>
              <a:off x="5783791" y="2967237"/>
              <a:ext cx="624416" cy="25927"/>
            </a:xfrm>
            <a:custGeom>
              <a:avLst/>
              <a:gdLst>
                <a:gd name="connsiteX0" fmla="*/ 0 w 624416"/>
                <a:gd name="connsiteY0" fmla="*/ 12963 h 25927"/>
                <a:gd name="connsiteX1" fmla="*/ 624416 w 624416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416" h="25927">
                  <a:moveTo>
                    <a:pt x="0" y="12963"/>
                  </a:moveTo>
                  <a:lnTo>
                    <a:pt x="624416" y="12963"/>
                  </a:lnTo>
                </a:path>
              </a:pathLst>
            </a:custGeom>
            <a:noFill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9298" tIns="-2647" rIns="309298" bIns="-264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16" name="任意形状 27"/>
            <p:cNvSpPr/>
            <p:nvPr/>
          </p:nvSpPr>
          <p:spPr>
            <a:xfrm>
              <a:off x="6408208" y="2589939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开门迟滞</a:t>
              </a:r>
              <a:endParaRPr lang="zh-CN" altLang="en-US" sz="1600" kern="1200" dirty="0"/>
            </a:p>
          </p:txBody>
        </p:sp>
        <p:sp>
          <p:nvSpPr>
            <p:cNvPr id="17" name="任意形状 28"/>
            <p:cNvSpPr/>
            <p:nvPr/>
          </p:nvSpPr>
          <p:spPr>
            <a:xfrm>
              <a:off x="7969250" y="2967236"/>
              <a:ext cx="624416" cy="25927"/>
            </a:xfrm>
            <a:custGeom>
              <a:avLst/>
              <a:gdLst>
                <a:gd name="connsiteX0" fmla="*/ 0 w 624416"/>
                <a:gd name="connsiteY0" fmla="*/ 12963 h 25927"/>
                <a:gd name="connsiteX1" fmla="*/ 624416 w 624416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416" h="25927">
                  <a:moveTo>
                    <a:pt x="0" y="12963"/>
                  </a:moveTo>
                  <a:lnTo>
                    <a:pt x="624416" y="12963"/>
                  </a:lnTo>
                </a:path>
              </a:pathLst>
            </a:custGeom>
            <a:noFill/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9298" tIns="-2647" rIns="309298" bIns="-264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18" name="任意形状 29"/>
            <p:cNvSpPr/>
            <p:nvPr/>
          </p:nvSpPr>
          <p:spPr>
            <a:xfrm>
              <a:off x="8593666" y="2589939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/>
                <a:t>98%</a:t>
              </a:r>
              <a:r>
                <a:rPr lang="zh-CN" altLang="en-US" sz="1600" kern="1200" dirty="0"/>
                <a:t>识别异常</a:t>
              </a:r>
              <a:endParaRPr lang="zh-CN" altLang="en-US" sz="1600" kern="1200" dirty="0"/>
            </a:p>
          </p:txBody>
        </p:sp>
        <p:sp>
          <p:nvSpPr>
            <p:cNvPr id="19" name="任意形状 30"/>
            <p:cNvSpPr/>
            <p:nvPr/>
          </p:nvSpPr>
          <p:spPr>
            <a:xfrm rot="3310531">
              <a:off x="5549287" y="3416035"/>
              <a:ext cx="1093426" cy="25927"/>
            </a:xfrm>
            <a:custGeom>
              <a:avLst/>
              <a:gdLst>
                <a:gd name="connsiteX0" fmla="*/ 0 w 1093425"/>
                <a:gd name="connsiteY0" fmla="*/ 12963 h 25927"/>
                <a:gd name="connsiteX1" fmla="*/ 1093425 w 1093425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3425" h="25927">
                  <a:moveTo>
                    <a:pt x="0" y="12963"/>
                  </a:moveTo>
                  <a:lnTo>
                    <a:pt x="1093425" y="12963"/>
                  </a:lnTo>
                </a:path>
              </a:pathLst>
            </a:custGeom>
            <a:noFill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2077" tIns="-14373" rIns="532076" bIns="-14372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20" name="任意形状 31"/>
            <p:cNvSpPr/>
            <p:nvPr/>
          </p:nvSpPr>
          <p:spPr>
            <a:xfrm>
              <a:off x="6408208" y="3487538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关门受阻</a:t>
              </a:r>
              <a:endParaRPr lang="zh-CN" altLang="en-US" sz="1600" kern="1200" dirty="0"/>
            </a:p>
          </p:txBody>
        </p:sp>
        <p:sp>
          <p:nvSpPr>
            <p:cNvPr id="21" name="任意形状 32"/>
            <p:cNvSpPr/>
            <p:nvPr/>
          </p:nvSpPr>
          <p:spPr>
            <a:xfrm>
              <a:off x="7969250" y="3864835"/>
              <a:ext cx="624416" cy="25927"/>
            </a:xfrm>
            <a:custGeom>
              <a:avLst/>
              <a:gdLst>
                <a:gd name="connsiteX0" fmla="*/ 0 w 624416"/>
                <a:gd name="connsiteY0" fmla="*/ 12963 h 25927"/>
                <a:gd name="connsiteX1" fmla="*/ 624416 w 624416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416" h="25927">
                  <a:moveTo>
                    <a:pt x="0" y="12963"/>
                  </a:moveTo>
                  <a:lnTo>
                    <a:pt x="624416" y="12963"/>
                  </a:lnTo>
                </a:path>
              </a:pathLst>
            </a:custGeom>
            <a:noFill/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9298" tIns="-2647" rIns="309298" bIns="-264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22" name="任意形状 33"/>
            <p:cNvSpPr/>
            <p:nvPr/>
          </p:nvSpPr>
          <p:spPr>
            <a:xfrm>
              <a:off x="8593666" y="3487538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/>
                <a:t>98%</a:t>
              </a:r>
              <a:r>
                <a:rPr lang="zh-CN" altLang="en-US" sz="1600" kern="1200" dirty="0"/>
                <a:t>识别异常</a:t>
              </a:r>
              <a:endParaRPr lang="zh-CN" altLang="en-US" sz="1600" kern="1200" dirty="0"/>
            </a:p>
          </p:txBody>
        </p:sp>
        <p:sp>
          <p:nvSpPr>
            <p:cNvPr id="23" name="任意形状 34"/>
            <p:cNvSpPr/>
            <p:nvPr/>
          </p:nvSpPr>
          <p:spPr>
            <a:xfrm rot="4249260">
              <a:off x="5145653" y="3864835"/>
              <a:ext cx="1900692" cy="25927"/>
            </a:xfrm>
            <a:custGeom>
              <a:avLst/>
              <a:gdLst>
                <a:gd name="connsiteX0" fmla="*/ 0 w 1900692"/>
                <a:gd name="connsiteY0" fmla="*/ 12963 h 25927"/>
                <a:gd name="connsiteX1" fmla="*/ 1900692 w 1900692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0692" h="25927">
                  <a:moveTo>
                    <a:pt x="0" y="12963"/>
                  </a:moveTo>
                  <a:lnTo>
                    <a:pt x="1900692" y="12963"/>
                  </a:lnTo>
                </a:path>
              </a:pathLst>
            </a:custGeom>
            <a:noFill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5529" tIns="-34554" rIns="915529" bIns="-34554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24" name="任意形状 35"/>
            <p:cNvSpPr/>
            <p:nvPr/>
          </p:nvSpPr>
          <p:spPr>
            <a:xfrm>
              <a:off x="6408208" y="4385137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反复开关门</a:t>
              </a:r>
              <a:endParaRPr lang="zh-CN" altLang="en-US" sz="1600" kern="1200" dirty="0"/>
            </a:p>
          </p:txBody>
        </p:sp>
        <p:sp>
          <p:nvSpPr>
            <p:cNvPr id="25" name="任意形状 36"/>
            <p:cNvSpPr/>
            <p:nvPr/>
          </p:nvSpPr>
          <p:spPr>
            <a:xfrm>
              <a:off x="7969250" y="4762434"/>
              <a:ext cx="624416" cy="25927"/>
            </a:xfrm>
            <a:custGeom>
              <a:avLst/>
              <a:gdLst>
                <a:gd name="connsiteX0" fmla="*/ 0 w 624416"/>
                <a:gd name="connsiteY0" fmla="*/ 12963 h 25927"/>
                <a:gd name="connsiteX1" fmla="*/ 624416 w 624416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416" h="25927">
                  <a:moveTo>
                    <a:pt x="0" y="12963"/>
                  </a:moveTo>
                  <a:lnTo>
                    <a:pt x="624416" y="12963"/>
                  </a:lnTo>
                </a:path>
              </a:pathLst>
            </a:custGeom>
            <a:noFill/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9298" tIns="-2647" rIns="309298" bIns="-264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26" name="任意形状 37"/>
            <p:cNvSpPr/>
            <p:nvPr/>
          </p:nvSpPr>
          <p:spPr>
            <a:xfrm>
              <a:off x="8593666" y="4385137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/>
                <a:t>70%</a:t>
              </a:r>
              <a:r>
                <a:rPr lang="zh-CN" altLang="en-US" sz="1600" kern="1200" dirty="0"/>
                <a:t>识别异常</a:t>
              </a:r>
              <a:endParaRPr lang="zh-CN" altLang="en-US" sz="1600" kern="1200" dirty="0"/>
            </a:p>
          </p:txBody>
        </p:sp>
        <p:sp>
          <p:nvSpPr>
            <p:cNvPr id="27" name="任意形状 38"/>
            <p:cNvSpPr/>
            <p:nvPr/>
          </p:nvSpPr>
          <p:spPr>
            <a:xfrm rot="3907178">
              <a:off x="3168469" y="4986833"/>
              <a:ext cx="1484144" cy="25927"/>
            </a:xfrm>
            <a:custGeom>
              <a:avLst/>
              <a:gdLst>
                <a:gd name="connsiteX0" fmla="*/ 0 w 1484144"/>
                <a:gd name="connsiteY0" fmla="*/ 12963 h 25927"/>
                <a:gd name="connsiteX1" fmla="*/ 1484144 w 1484144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4144" h="25927">
                  <a:moveTo>
                    <a:pt x="0" y="12963"/>
                  </a:moveTo>
                  <a:lnTo>
                    <a:pt x="1484144" y="12963"/>
                  </a:lnTo>
                </a:path>
              </a:pathLst>
            </a:custGeom>
            <a:noFill/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7669" tIns="-24140" rIns="717667" bIns="-2414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28" name="任意形状 39"/>
            <p:cNvSpPr/>
            <p:nvPr/>
          </p:nvSpPr>
          <p:spPr>
            <a:xfrm>
              <a:off x="4222749" y="5282736"/>
              <a:ext cx="1561041" cy="780520"/>
            </a:xfrm>
            <a:custGeom>
              <a:avLst/>
              <a:gdLst>
                <a:gd name="connsiteX0" fmla="*/ 0 w 1561041"/>
                <a:gd name="connsiteY0" fmla="*/ 78052 h 780520"/>
                <a:gd name="connsiteX1" fmla="*/ 78052 w 1561041"/>
                <a:gd name="connsiteY1" fmla="*/ 0 h 780520"/>
                <a:gd name="connsiteX2" fmla="*/ 1482989 w 1561041"/>
                <a:gd name="connsiteY2" fmla="*/ 0 h 780520"/>
                <a:gd name="connsiteX3" fmla="*/ 1561041 w 1561041"/>
                <a:gd name="connsiteY3" fmla="*/ 78052 h 780520"/>
                <a:gd name="connsiteX4" fmla="*/ 1561041 w 1561041"/>
                <a:gd name="connsiteY4" fmla="*/ 702468 h 780520"/>
                <a:gd name="connsiteX5" fmla="*/ 1482989 w 1561041"/>
                <a:gd name="connsiteY5" fmla="*/ 780520 h 780520"/>
                <a:gd name="connsiteX6" fmla="*/ 78052 w 1561041"/>
                <a:gd name="connsiteY6" fmla="*/ 780520 h 780520"/>
                <a:gd name="connsiteX7" fmla="*/ 0 w 1561041"/>
                <a:gd name="connsiteY7" fmla="*/ 702468 h 780520"/>
                <a:gd name="connsiteX8" fmla="*/ 0 w 1561041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1041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1482989" y="0"/>
                  </a:lnTo>
                  <a:cubicBezTo>
                    <a:pt x="1526096" y="0"/>
                    <a:pt x="1561041" y="34945"/>
                    <a:pt x="1561041" y="78052"/>
                  </a:cubicBezTo>
                  <a:lnTo>
                    <a:pt x="1561041" y="702468"/>
                  </a:lnTo>
                  <a:cubicBezTo>
                    <a:pt x="1561041" y="745575"/>
                    <a:pt x="1526096" y="780520"/>
                    <a:pt x="1482989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正常运行</a:t>
              </a:r>
              <a:endParaRPr lang="zh-CN" altLang="en-US" sz="1600" kern="1200" dirty="0"/>
            </a:p>
          </p:txBody>
        </p:sp>
        <p:sp>
          <p:nvSpPr>
            <p:cNvPr id="29" name="任意形状 40"/>
            <p:cNvSpPr/>
            <p:nvPr/>
          </p:nvSpPr>
          <p:spPr>
            <a:xfrm>
              <a:off x="5783791" y="5660033"/>
              <a:ext cx="624416" cy="25927"/>
            </a:xfrm>
            <a:custGeom>
              <a:avLst/>
              <a:gdLst>
                <a:gd name="connsiteX0" fmla="*/ 0 w 624416"/>
                <a:gd name="connsiteY0" fmla="*/ 12963 h 25927"/>
                <a:gd name="connsiteX1" fmla="*/ 624416 w 624416"/>
                <a:gd name="connsiteY1" fmla="*/ 12963 h 2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416" h="25927">
                  <a:moveTo>
                    <a:pt x="0" y="12963"/>
                  </a:moveTo>
                  <a:lnTo>
                    <a:pt x="624416" y="12963"/>
                  </a:lnTo>
                </a:path>
              </a:pathLst>
            </a:custGeom>
            <a:noFill/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6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9298" tIns="-2647" rIns="309298" bIns="-264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1600" kern="1200"/>
            </a:p>
          </p:txBody>
        </p:sp>
        <p:sp>
          <p:nvSpPr>
            <p:cNvPr id="30" name="任意形状 41"/>
            <p:cNvSpPr/>
            <p:nvPr/>
          </p:nvSpPr>
          <p:spPr>
            <a:xfrm>
              <a:off x="6408208" y="5282736"/>
              <a:ext cx="3746499" cy="780520"/>
            </a:xfrm>
            <a:custGeom>
              <a:avLst/>
              <a:gdLst>
                <a:gd name="connsiteX0" fmla="*/ 0 w 3457582"/>
                <a:gd name="connsiteY0" fmla="*/ 78052 h 780520"/>
                <a:gd name="connsiteX1" fmla="*/ 78052 w 3457582"/>
                <a:gd name="connsiteY1" fmla="*/ 0 h 780520"/>
                <a:gd name="connsiteX2" fmla="*/ 3379530 w 3457582"/>
                <a:gd name="connsiteY2" fmla="*/ 0 h 780520"/>
                <a:gd name="connsiteX3" fmla="*/ 3457582 w 3457582"/>
                <a:gd name="connsiteY3" fmla="*/ 78052 h 780520"/>
                <a:gd name="connsiteX4" fmla="*/ 3457582 w 3457582"/>
                <a:gd name="connsiteY4" fmla="*/ 702468 h 780520"/>
                <a:gd name="connsiteX5" fmla="*/ 3379530 w 3457582"/>
                <a:gd name="connsiteY5" fmla="*/ 780520 h 780520"/>
                <a:gd name="connsiteX6" fmla="*/ 78052 w 3457582"/>
                <a:gd name="connsiteY6" fmla="*/ 780520 h 780520"/>
                <a:gd name="connsiteX7" fmla="*/ 0 w 3457582"/>
                <a:gd name="connsiteY7" fmla="*/ 702468 h 780520"/>
                <a:gd name="connsiteX8" fmla="*/ 0 w 3457582"/>
                <a:gd name="connsiteY8" fmla="*/ 78052 h 78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7582" h="780520">
                  <a:moveTo>
                    <a:pt x="0" y="78052"/>
                  </a:moveTo>
                  <a:cubicBezTo>
                    <a:pt x="0" y="34945"/>
                    <a:pt x="34945" y="0"/>
                    <a:pt x="78052" y="0"/>
                  </a:cubicBezTo>
                  <a:lnTo>
                    <a:pt x="3379530" y="0"/>
                  </a:lnTo>
                  <a:cubicBezTo>
                    <a:pt x="3422637" y="0"/>
                    <a:pt x="3457582" y="34945"/>
                    <a:pt x="3457582" y="78052"/>
                  </a:cubicBezTo>
                  <a:lnTo>
                    <a:pt x="3457582" y="702468"/>
                  </a:lnTo>
                  <a:cubicBezTo>
                    <a:pt x="3457582" y="745575"/>
                    <a:pt x="3422637" y="780520"/>
                    <a:pt x="3379530" y="780520"/>
                  </a:cubicBezTo>
                  <a:lnTo>
                    <a:pt x="78052" y="780520"/>
                  </a:lnTo>
                  <a:cubicBezTo>
                    <a:pt x="34945" y="780520"/>
                    <a:pt x="0" y="745575"/>
                    <a:pt x="0" y="702468"/>
                  </a:cubicBezTo>
                  <a:lnTo>
                    <a:pt x="0" y="78052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21" tIns="33021" rIns="33021" bIns="3302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/>
                <a:t>运行</a:t>
              </a:r>
              <a:r>
                <a:rPr lang="en-US" altLang="zh-CN" sz="1600" kern="1200" dirty="0"/>
                <a:t>24</a:t>
              </a:r>
              <a:r>
                <a:rPr lang="zh-CN" altLang="en-US" sz="1600" kern="1200" dirty="0"/>
                <a:t>小时，未报异常</a:t>
              </a:r>
              <a:endParaRPr lang="zh-CN" altLang="en-US" sz="1600" kern="1200" dirty="0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418086" y="5035993"/>
            <a:ext cx="4793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输入正常</a:t>
            </a:r>
            <a:r>
              <a:rPr lang="en-US" altLang="zh-CN" sz="1600" dirty="0"/>
              <a:t>/</a:t>
            </a:r>
            <a:r>
              <a:rPr lang="zh-CN" altLang="en-US" sz="1600" dirty="0"/>
              <a:t>故障数据后，算法总体识别准确率≥</a:t>
            </a:r>
            <a:r>
              <a:rPr lang="en-US" altLang="zh-CN" sz="1600" dirty="0"/>
              <a:t>80%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电商促销建议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821495" y="750241"/>
            <a:ext cx="5657128" cy="3122085"/>
            <a:chOff x="848501" y="1286387"/>
            <a:chExt cx="5657128" cy="312208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8501" y="1710138"/>
              <a:ext cx="1587239" cy="2114986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0793" y="1710138"/>
              <a:ext cx="2025026" cy="2698334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2590" y="1286387"/>
              <a:ext cx="2343039" cy="3122085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/>
        </p:nvSpPr>
        <p:spPr>
          <a:xfrm>
            <a:off x="630337" y="3872326"/>
            <a:ext cx="4275277" cy="1396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1"/>
                </a:solidFill>
              </a:rPr>
              <a:t>算法目标</a:t>
            </a:r>
            <a:r>
              <a:rPr lang="zh-CN" altLang="en-US" sz="1600" dirty="0"/>
              <a:t>：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1.</a:t>
            </a:r>
            <a:r>
              <a:rPr lang="zh-CN" altLang="en-US" sz="1400" dirty="0"/>
              <a:t>促销研究，促销背后的逻辑：黄金价格，库存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2.</a:t>
            </a:r>
            <a:r>
              <a:rPr lang="zh-CN" altLang="en-US" sz="1400" dirty="0"/>
              <a:t>促销命中率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3.</a:t>
            </a:r>
            <a:r>
              <a:rPr lang="zh-CN" altLang="en-US" sz="1400" dirty="0"/>
              <a:t>促销最终结果与促销计划建议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5921768" y="3225995"/>
            <a:ext cx="4275277" cy="2043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数据源：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1.</a:t>
            </a:r>
            <a:r>
              <a:rPr lang="zh-CN" altLang="en-US" sz="1400" dirty="0"/>
              <a:t>销售数据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2.</a:t>
            </a:r>
            <a:r>
              <a:rPr lang="zh-CN" altLang="en-US" sz="1400" dirty="0"/>
              <a:t>库存水平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3.</a:t>
            </a:r>
            <a:r>
              <a:rPr lang="zh-CN" altLang="en-US" sz="1400" dirty="0"/>
              <a:t>促销详情（每个公众假期均有促销活动）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4.</a:t>
            </a:r>
            <a:r>
              <a:rPr lang="zh-CN" altLang="en-US" sz="1400" dirty="0"/>
              <a:t>外部数据</a:t>
            </a:r>
            <a:r>
              <a:rPr lang="en-US" altLang="zh-CN" sz="1400" dirty="0"/>
              <a:t>-</a:t>
            </a:r>
            <a:r>
              <a:rPr lang="zh-CN" altLang="en-US" sz="1400" dirty="0"/>
              <a:t>假期（</a:t>
            </a:r>
            <a:r>
              <a:rPr lang="en-US" altLang="zh-CN" sz="1400" dirty="0"/>
              <a:t>data.gov.hk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5.</a:t>
            </a:r>
            <a:r>
              <a:rPr lang="zh-CN" altLang="en-US" sz="1400" dirty="0"/>
              <a:t>外部数据</a:t>
            </a:r>
            <a:r>
              <a:rPr lang="en-US" altLang="zh-CN" sz="1400" dirty="0"/>
              <a:t>-</a:t>
            </a:r>
            <a:r>
              <a:rPr lang="zh-CN" altLang="en-US" sz="1400" dirty="0"/>
              <a:t>付费</a:t>
            </a:r>
            <a:r>
              <a:rPr lang="en-US" altLang="zh-CN" sz="1400" dirty="0"/>
              <a:t>API </a:t>
            </a:r>
            <a:r>
              <a:rPr lang="zh-CN" altLang="en-US" sz="1400" dirty="0"/>
              <a:t>（</a:t>
            </a:r>
            <a:r>
              <a:rPr lang="en-US" altLang="zh-CN" sz="1400" dirty="0"/>
              <a:t>https://goldapi.io/</a:t>
            </a:r>
            <a:r>
              <a:rPr lang="zh-CN" altLang="en-US" sz="1400" dirty="0"/>
              <a:t>）金价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电商促销建议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37" y="1123804"/>
            <a:ext cx="4879691" cy="398071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06127" y="1843454"/>
            <a:ext cx="4275277" cy="301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要求：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1.</a:t>
            </a:r>
            <a:r>
              <a:rPr lang="zh-CN" altLang="en-US" sz="1400" dirty="0"/>
              <a:t>需要对数据做筛选和清洗，提取典型销售特征、冗余特征，按分布、时序、关联等方式（</a:t>
            </a:r>
            <a:r>
              <a:rPr lang="zh-CN" altLang="en-US" sz="1400" dirty="0">
                <a:solidFill>
                  <a:srgbClr val="FF0000"/>
                </a:solidFill>
              </a:rPr>
              <a:t>不做具体要求，看最终效果</a:t>
            </a:r>
            <a:r>
              <a:rPr lang="zh-CN" altLang="en-US" sz="1400" dirty="0"/>
              <a:t>）进行统计分析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2.</a:t>
            </a:r>
            <a:r>
              <a:rPr lang="zh-CN" altLang="en-US" sz="1400" dirty="0"/>
              <a:t>通过上下文工程将销售背景知识、促销要求、数据分析结论等输入给大模型，由大模型输出总结报告</a:t>
            </a:r>
            <a:r>
              <a:rPr lang="en-US" altLang="zh-CN" sz="1400" dirty="0"/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幻觉克服</a:t>
            </a:r>
            <a:r>
              <a:rPr lang="en-US" altLang="zh-CN" sz="1400" dirty="0"/>
              <a:t>)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3.</a:t>
            </a:r>
            <a:r>
              <a:rPr lang="zh-CN" altLang="en-US" sz="1400" dirty="0"/>
              <a:t>允许采样少量数据来做</a:t>
            </a:r>
            <a:r>
              <a:rPr lang="en-US" altLang="zh-CN" sz="1400" dirty="0" err="1"/>
              <a:t>poc</a:t>
            </a:r>
            <a:r>
              <a:rPr lang="zh-CN" altLang="en-US" sz="1400" dirty="0"/>
              <a:t>，但需说明上线后如何分析读取大规模表格的技术思路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23413" y="5104515"/>
            <a:ext cx="4493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输出格式样例：促销关键因素、数据分析和逻辑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光纤继承预测</a:t>
            </a:r>
            <a:endParaRPr lang="zh-CN" altLang="en-US" dirty="0"/>
          </a:p>
        </p:txBody>
      </p:sp>
      <p:pic>
        <p:nvPicPr>
          <p:cNvPr id="1026" name="Picture 2" descr="拉丝工艺-光纤的制造_word文档在线阅读与下载_无忧文档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6" r="3630"/>
          <a:stretch>
            <a:fillRect/>
          </a:stretch>
        </p:blipFill>
        <p:spPr bwMode="auto">
          <a:xfrm>
            <a:off x="278503" y="962012"/>
            <a:ext cx="4955910" cy="442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281103" y="884682"/>
            <a:ext cx="5388679" cy="458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光纤制造的核心环节之一是拉丝，即将一根巨大的高纯度石英玻璃预制棒（数据中的棒号）在高温下拉伸成直径仅为微米级别的光纤。这条连续拉制出的光纤随后被缠绕在大型线盘（大盘）上。为便于运输、测试和后续使用，这些大盘光纤会被分切成若干个较短的独立小盘（小盘）。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由于拉丝过程的连续性，在理想且稳定的工艺条件下，从同一根预制棒拉出的光纤，其物理特性（尤其是作为关键质量指标的包层直径）在空间上是连续的。这意味着，一盘光纤的末端（母盘的外端）与其在物理上相邻的下一盘光纤的始端（小盘的内端）的直径应该高度一致。基于这一物理原理，“继承”概念应运而生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“继承”是一种质量控制与成本优化的策略。它允许在确认工艺稳定的前提下，直接将母盘外端的测量数据“继承”给子盘的内端，从而免除对子盘内端的重复、耗时的几何参数测试。这不仅节约了宝贵的检测时间，也减少了因测试而产生的潜在光纤损耗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光纤继承预测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36031" y="884385"/>
            <a:ext cx="9604689" cy="79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继承策略的核心挑战在于如何准确判断工艺的稳定性。拉丝过程中的任何扰动，如拉丝速度的波动、炉温的轻微变化、接头通过或裸纤的微小振动，都可能破坏光纤直径的连续性。</a:t>
            </a:r>
            <a:endParaRPr lang="zh-CN" altLang="en-US" sz="16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30337" y="3627675"/>
          <a:ext cx="4975698" cy="1336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3296"/>
                <a:gridCol w="1990279"/>
                <a:gridCol w="1482123"/>
              </a:tblGrid>
              <a:tr h="2697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棒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大盘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小盘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5"/>
                    </a:solidFill>
                  </a:tcPr>
                </a:tc>
              </a:tr>
              <a:tr h="1778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PRSD2WR8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DRSD2WR8AA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RSD2WR8AA01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1778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RSD2WR8AA02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177800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DRSD2WR8AB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RSD2WR8AB01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533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大盘号为棒号</a:t>
                      </a:r>
                      <a:r>
                        <a:rPr lang="en-US" altLang="zh-CN" sz="1100" u="none" strike="noStrike" dirty="0">
                          <a:effectLst/>
                        </a:rPr>
                        <a:t>+</a:t>
                      </a:r>
                      <a:r>
                        <a:rPr lang="zh-CN" altLang="en-US" sz="1100" u="none" strike="noStrike" dirty="0">
                          <a:effectLst/>
                        </a:rPr>
                        <a:t>两位字母按序生成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小盘号为大盘号</a:t>
                      </a:r>
                      <a:r>
                        <a:rPr lang="en-US" altLang="zh-CN" sz="1100" u="none" strike="noStrike" dirty="0">
                          <a:effectLst/>
                        </a:rPr>
                        <a:t>+</a:t>
                      </a:r>
                      <a:r>
                        <a:rPr lang="zh-CN" altLang="en-US" sz="1100" u="none" strike="noStrike" dirty="0">
                          <a:effectLst/>
                        </a:rPr>
                        <a:t>两位数字，按序生成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pic>
        <p:nvPicPr>
          <p:cNvPr id="6" name="图片 5" descr="企业微信截图_171999343468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9919" y="2324766"/>
            <a:ext cx="4360801" cy="2220978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40236" b="24355"/>
          <a:stretch>
            <a:fillRect/>
          </a:stretch>
        </p:blipFill>
        <p:spPr>
          <a:xfrm>
            <a:off x="630336" y="1843997"/>
            <a:ext cx="4975697" cy="134695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69998" y="3204918"/>
            <a:ext cx="3775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生产的时序数据，如果波动过大则可能不继承</a:t>
            </a:r>
            <a:endParaRPr lang="zh-CN" altLang="en-US" sz="1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247215" y="498859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表格编号命名规则</a:t>
            </a:r>
            <a:endParaRPr lang="zh-CN" altLang="en-US" sz="1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7439609" y="459153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大盘拉丝示意图</a:t>
            </a:r>
            <a:endParaRPr lang="zh-CN" altLang="en-US" sz="1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光纤继承预测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475" y="937377"/>
            <a:ext cx="9998307" cy="160338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16477" y="231879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内端外端的规则</a:t>
            </a:r>
            <a:endParaRPr lang="zh-CN" altLang="en-US" sz="14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814840" y="1982364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方正大黑简体"/>
              </a:rPr>
              <a:t>外</a:t>
            </a:r>
            <a:endParaRPr lang="zh-CN" altLang="en-US" sz="1100" dirty="0">
              <a:latin typeface="方正大黑简体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63210" y="1933503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latin typeface="方正大黑简体"/>
              </a:rPr>
              <a:t>内</a:t>
            </a:r>
            <a:endParaRPr lang="zh-CN" altLang="en-US" sz="1100" dirty="0">
              <a:latin typeface="方正大黑简体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4841" y="2609640"/>
            <a:ext cx="9251574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时间轴由左至右，左边为先，右边为后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内端是指光纤拉丝的起点（最早生成的部分）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外端是指光纤拉丝的终点（最后生成的部分）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在光纤拉丝完成后，整个光纤会被收卷到一个大盘上，因此内端和外端也对应于大盘上的内层和外层光纤（大盘从内到外）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后续的大盘放卷和重新收卷到小盘时，内端和外端的关系如下</a:t>
            </a:r>
            <a:r>
              <a:rPr lang="en-US" altLang="zh-CN" sz="1400" dirty="0"/>
              <a:t>(AA</a:t>
            </a:r>
            <a:r>
              <a:rPr lang="zh-CN" altLang="en-US" sz="1400" dirty="0"/>
              <a:t>大盘为例</a:t>
            </a:r>
            <a:r>
              <a:rPr lang="en-US" altLang="zh-CN" sz="1400" dirty="0"/>
              <a:t>)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marL="74168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AA</a:t>
            </a:r>
            <a:r>
              <a:rPr lang="zh-CN" altLang="en-US" sz="1400" dirty="0"/>
              <a:t>大盘的外端对应</a:t>
            </a:r>
            <a:r>
              <a:rPr lang="en-US" altLang="zh-CN" sz="1400" dirty="0"/>
              <a:t>AA05</a:t>
            </a:r>
            <a:r>
              <a:rPr lang="zh-CN" altLang="en-US" sz="1400" dirty="0"/>
              <a:t>的外端（内层）</a:t>
            </a:r>
            <a:endParaRPr lang="en-US" altLang="zh-CN" sz="1400" dirty="0"/>
          </a:p>
          <a:p>
            <a:pPr marL="74168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AA</a:t>
            </a:r>
            <a:r>
              <a:rPr lang="zh-CN" altLang="en-US" sz="1400" dirty="0"/>
              <a:t>大盘的内端对应</a:t>
            </a:r>
            <a:r>
              <a:rPr lang="en-US" altLang="zh-CN" sz="1400" dirty="0"/>
              <a:t>AA01</a:t>
            </a:r>
            <a:r>
              <a:rPr lang="zh-CN" altLang="en-US" sz="1400" dirty="0"/>
              <a:t>的内端（外层）</a:t>
            </a:r>
            <a:endParaRPr lang="en-US" altLang="zh-CN" sz="1400" dirty="0"/>
          </a:p>
          <a:p>
            <a:pPr marL="74168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AA01</a:t>
            </a:r>
            <a:r>
              <a:rPr lang="zh-CN" altLang="en-US" sz="1400" dirty="0"/>
              <a:t>称为首小盘，每次优先测试大盘和首小盘数据，需要用</a:t>
            </a:r>
            <a:r>
              <a:rPr lang="en-US" altLang="zh-CN" sz="1400" dirty="0"/>
              <a:t>AI</a:t>
            </a:r>
            <a:r>
              <a:rPr lang="zh-CN" altLang="en-US" sz="1400" dirty="0"/>
              <a:t>算法预测后面盘内外端的继承情况</a:t>
            </a:r>
            <a:endParaRPr lang="en-US" altLang="zh-CN" sz="140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1249447" y="937377"/>
            <a:ext cx="877662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72971" y="74058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外端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0026075" y="779072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内端</a:t>
            </a:r>
            <a:endParaRPr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60147" y="1355046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内端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0114228" y="142893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外端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光纤继承预测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341174" y="3617033"/>
            <a:ext cx="9225225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能完全理解工业背景，能根据给出的数据表格制定初步的算法设计方案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能对数据作基本的清洗整理，完成数据集构建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用算法模型初步验证算法的有效性（与客户现有的继承标记对比）</a:t>
            </a:r>
            <a:endParaRPr lang="en-US" altLang="zh-CN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1188775" y="111760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算法目标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3444" y="321692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要求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1175" y="1754507"/>
            <a:ext cx="9225225" cy="153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实现光纤继承中几何参数的包层直径继承预测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预测精度（即预测值与实测值偏离度不高于</a:t>
            </a:r>
            <a:r>
              <a:rPr lang="en-US" altLang="zh-CN" sz="1600" dirty="0"/>
              <a:t>1%</a:t>
            </a:r>
            <a:r>
              <a:rPr lang="zh-CN" altLang="en-US" sz="1600" dirty="0"/>
              <a:t>），（预测值</a:t>
            </a:r>
            <a:r>
              <a:rPr lang="en-US" altLang="zh-CN" sz="1600" dirty="0"/>
              <a:t>-</a:t>
            </a:r>
            <a:r>
              <a:rPr lang="zh-CN" altLang="en-US" sz="1600" dirty="0"/>
              <a:t>实际值）</a:t>
            </a:r>
            <a:r>
              <a:rPr lang="en-US" altLang="zh-CN" sz="1600" dirty="0"/>
              <a:t>/</a:t>
            </a:r>
            <a:r>
              <a:rPr lang="zh-CN" altLang="en-US" sz="1600" dirty="0"/>
              <a:t>实际值* </a:t>
            </a:r>
            <a:r>
              <a:rPr lang="en-US" altLang="zh-CN" sz="1600" dirty="0"/>
              <a:t>100%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继承决策模型功能模块：各指标动态决策准确率不低于 </a:t>
            </a:r>
            <a:r>
              <a:rPr lang="en-US" altLang="zh-CN" sz="1600" dirty="0"/>
              <a:t>95%</a:t>
            </a:r>
            <a:r>
              <a:rPr lang="zh-CN" altLang="en-US" sz="1600" dirty="0"/>
              <a:t>（达到预测精度</a:t>
            </a:r>
            <a:r>
              <a:rPr lang="en-US" altLang="zh-CN" sz="1600" dirty="0"/>
              <a:t>±1%</a:t>
            </a:r>
            <a:r>
              <a:rPr lang="zh-CN" altLang="en-US" sz="1600" dirty="0"/>
              <a:t>的数量</a:t>
            </a:r>
            <a:r>
              <a:rPr lang="en-US" altLang="zh-CN" sz="1600" dirty="0"/>
              <a:t>/</a:t>
            </a:r>
            <a:r>
              <a:rPr lang="zh-CN" altLang="en-US" sz="1600" dirty="0"/>
              <a:t>预测数量 * </a:t>
            </a:r>
            <a:r>
              <a:rPr lang="en-US" altLang="zh-CN" sz="1600" dirty="0"/>
              <a:t>100%</a:t>
            </a:r>
            <a:r>
              <a:rPr lang="zh-CN" altLang="en-US" sz="1600" dirty="0"/>
              <a:t>），每盘光纤推理决策时间＜</a:t>
            </a:r>
            <a:r>
              <a:rPr lang="en-US" altLang="zh-CN" sz="1600" dirty="0"/>
              <a:t>50 </a:t>
            </a:r>
            <a:r>
              <a:rPr lang="zh-CN" altLang="en-US" sz="1600" dirty="0"/>
              <a:t>秒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法律条文审查大模型应用设计与实现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10988" y="897251"/>
            <a:ext cx="934570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项目背景：</a:t>
            </a:r>
            <a:endParaRPr lang="en-US" altLang="zh-CN" b="1" dirty="0">
              <a:solidFill>
                <a:schemeClr val="accent1"/>
              </a:solidFill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dirty="0"/>
              <a:t>在实际法律工作中（如合同审核、律师函撰写、业务合规审核等），往往需要快速查询并匹配相关法律条文，并对文件内容做合规性判断。例如，一份劳动合同需要符合</a:t>
            </a:r>
            <a:r>
              <a:rPr lang="en-US" altLang="zh-CN" dirty="0"/>
              <a:t>《</a:t>
            </a:r>
            <a:r>
              <a:rPr lang="zh-CN" altLang="en-US" dirty="0"/>
              <a:t>劳动合同法</a:t>
            </a:r>
            <a:r>
              <a:rPr lang="en-US" altLang="zh-CN" dirty="0"/>
              <a:t>》《</a:t>
            </a:r>
            <a:r>
              <a:rPr lang="zh-CN" altLang="en-US" dirty="0"/>
              <a:t>劳动法</a:t>
            </a:r>
            <a:r>
              <a:rPr lang="en-US" altLang="zh-CN" dirty="0"/>
              <a:t>》</a:t>
            </a:r>
            <a:r>
              <a:rPr lang="zh-CN" altLang="en-US" dirty="0"/>
              <a:t>及相关司法解释的要求。</a:t>
            </a:r>
            <a:endParaRPr lang="zh-CN" altLang="en-US" dirty="0"/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dirty="0"/>
              <a:t>我们希望通过大模型（</a:t>
            </a:r>
            <a:r>
              <a:rPr lang="en-US" altLang="zh-CN" dirty="0"/>
              <a:t>LLM</a:t>
            </a:r>
            <a:r>
              <a:rPr lang="zh-CN" altLang="en-US" dirty="0"/>
              <a:t>）技术，构建一个原型应用，能够：</a:t>
            </a:r>
            <a:endParaRPr lang="zh-CN" altLang="en-US" dirty="0"/>
          </a:p>
          <a:p>
            <a:pPr lvl="0">
              <a:lnSpc>
                <a:spcPct val="125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zh-CN" dirty="0"/>
              <a:t>接收法律相关文件（文本或图像）。</a:t>
            </a:r>
            <a:endParaRPr lang="zh-CN" altLang="zh-CN" dirty="0"/>
          </a:p>
          <a:p>
            <a:pPr lvl="0">
              <a:lnSpc>
                <a:spcPct val="125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zh-CN" dirty="0"/>
              <a:t>自动分析文件内容，查询现有法律条文，推荐相关的法律依据。</a:t>
            </a:r>
            <a:endParaRPr lang="zh-CN" altLang="zh-CN" dirty="0"/>
          </a:p>
          <a:p>
            <a:pPr lvl="0">
              <a:lnSpc>
                <a:spcPct val="125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基于匹配到的法律条文，自动审查文件中是否存在潜在错误或违规风险，并提出修改建议。</a:t>
            </a:r>
            <a:endParaRPr lang="zh-CN" altLang="zh-CN" dirty="0"/>
          </a:p>
          <a:p>
            <a:pPr lvl="0">
              <a:lnSpc>
                <a:spcPct val="125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zh-CN" dirty="0"/>
              <a:t>支持基于法律条文的问答咨询。</a:t>
            </a:r>
            <a:endParaRPr lang="zh-CN" altLang="zh-CN" dirty="0"/>
          </a:p>
          <a:p>
            <a:pPr>
              <a:spcBef>
                <a:spcPts val="1200"/>
              </a:spcBef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法律条文审查大模型应用设计与实现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97541" y="823394"/>
            <a:ext cx="9345705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项目要求：</a:t>
            </a:r>
            <a:endParaRPr lang="en-US" altLang="zh-CN" b="1" dirty="0">
              <a:solidFill>
                <a:schemeClr val="accent1"/>
              </a:solidFill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</a:rPr>
              <a:t>A</a:t>
            </a:r>
            <a:r>
              <a:rPr lang="zh-CN" altLang="en-US" b="1" dirty="0">
                <a:solidFill>
                  <a:schemeClr val="accent1"/>
                </a:solidFill>
              </a:rPr>
              <a:t>）基础版本（必做）</a:t>
            </a:r>
            <a:endParaRPr lang="zh-CN" altLang="en-US" b="1" dirty="0">
              <a:solidFill>
                <a:schemeClr val="accent1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b="1" dirty="0"/>
              <a:t>文件类型</a:t>
            </a:r>
            <a:r>
              <a:rPr lang="zh-CN" altLang="en-US" dirty="0"/>
              <a:t>：仅限文本文件（例如 </a:t>
            </a:r>
            <a:r>
              <a:rPr lang="en-US" altLang="zh-CN" dirty="0"/>
              <a:t>.txt</a:t>
            </a:r>
            <a:r>
              <a:rPr lang="zh-CN" altLang="en-US" dirty="0"/>
              <a:t>、</a:t>
            </a:r>
            <a:r>
              <a:rPr lang="en-US" altLang="zh-CN" dirty="0"/>
              <a:t>.docx</a:t>
            </a:r>
            <a:r>
              <a:rPr lang="zh-CN" altLang="en-US" dirty="0"/>
              <a:t>）。</a:t>
            </a:r>
            <a:endParaRPr lang="zh-CN" altLang="en-US" dirty="0"/>
          </a:p>
          <a:p>
            <a:pPr lvl="1">
              <a:spcBef>
                <a:spcPts val="600"/>
              </a:spcBef>
            </a:pPr>
            <a:r>
              <a:rPr lang="zh-CN" altLang="en-US" b="1" dirty="0"/>
              <a:t>存储</a:t>
            </a:r>
            <a:r>
              <a:rPr lang="zh-CN" altLang="en-US" dirty="0"/>
              <a:t>：无需外部数据库，仅使用系统内存（缓存）进行数据临时存储。</a:t>
            </a:r>
            <a:endParaRPr lang="zh-CN" altLang="en-US" dirty="0"/>
          </a:p>
          <a:p>
            <a:pPr lvl="1">
              <a:spcBef>
                <a:spcPts val="600"/>
              </a:spcBef>
            </a:pPr>
            <a:r>
              <a:rPr lang="zh-CN" altLang="en-US" b="1" dirty="0"/>
              <a:t>模型</a:t>
            </a:r>
            <a:r>
              <a:rPr lang="zh-CN" altLang="en-US" dirty="0"/>
              <a:t>：使用现成的开源大语言模型，无需微调。</a:t>
            </a:r>
            <a:endParaRPr lang="zh-CN" altLang="en-US" dirty="0"/>
          </a:p>
          <a:p>
            <a:pPr lvl="1">
              <a:spcBef>
                <a:spcPts val="600"/>
              </a:spcBef>
            </a:pPr>
            <a:r>
              <a:rPr lang="zh-CN" altLang="en-US" b="1" dirty="0"/>
              <a:t>功能点</a:t>
            </a:r>
            <a:r>
              <a:rPr lang="zh-CN" altLang="en-US" dirty="0"/>
              <a:t>：</a:t>
            </a:r>
            <a:endParaRPr lang="zh-CN" altLang="en-US" dirty="0"/>
          </a:p>
          <a:p>
            <a:pPr lvl="2">
              <a:spcBef>
                <a:spcPts val="600"/>
              </a:spcBef>
            </a:pPr>
            <a:r>
              <a:rPr lang="zh-CN" altLang="en-US" b="1" dirty="0"/>
              <a:t>条文推荐</a:t>
            </a:r>
            <a:r>
              <a:rPr lang="zh-CN" altLang="en-US" dirty="0"/>
              <a:t>：读取输入文本，从已有法律条文库（文本存储）中匹配相关条文（可基于简单关键词或 </a:t>
            </a:r>
            <a:r>
              <a:rPr lang="en-US" altLang="zh-CN" dirty="0"/>
              <a:t>Embedding </a:t>
            </a:r>
            <a:r>
              <a:rPr lang="zh-CN" altLang="en-US" dirty="0"/>
              <a:t>相似度）。</a:t>
            </a:r>
            <a:endParaRPr lang="zh-CN" altLang="en-US" dirty="0"/>
          </a:p>
          <a:p>
            <a:pPr lvl="2">
              <a:spcBef>
                <a:spcPts val="600"/>
              </a:spcBef>
            </a:pPr>
            <a:r>
              <a:rPr lang="zh-CN" altLang="en-US" b="1" dirty="0"/>
              <a:t>条文审查</a:t>
            </a:r>
            <a:r>
              <a:rPr lang="zh-CN" altLang="en-US" dirty="0"/>
              <a:t>：对文件逐条审查，识别潜在问题点，并给出修改建议。</a:t>
            </a:r>
            <a:endParaRPr lang="zh-CN" altLang="en-US" dirty="0"/>
          </a:p>
          <a:p>
            <a:pPr lvl="2">
              <a:spcBef>
                <a:spcPts val="600"/>
              </a:spcBef>
            </a:pPr>
            <a:r>
              <a:rPr lang="zh-CN" altLang="en-US" b="1" dirty="0"/>
              <a:t>法律问答</a:t>
            </a:r>
            <a:r>
              <a:rPr lang="zh-CN" altLang="en-US" dirty="0"/>
              <a:t>：基于已知的法律条文内容回答用户提问。</a:t>
            </a:r>
            <a:endParaRPr lang="zh-CN" altLang="en-US" dirty="0"/>
          </a:p>
          <a:p>
            <a:pPr>
              <a:spcBef>
                <a:spcPts val="1200"/>
              </a:spcBef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法律条文审查大模型应用设计与实现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97541" y="823394"/>
            <a:ext cx="991048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项目要求：</a:t>
            </a:r>
            <a:endParaRPr lang="en-US" altLang="zh-CN" b="1" dirty="0">
              <a:solidFill>
                <a:schemeClr val="accent1"/>
              </a:solidFill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</a:rPr>
              <a:t>B</a:t>
            </a:r>
            <a:r>
              <a:rPr lang="zh-CN" altLang="en-US" b="1" dirty="0">
                <a:solidFill>
                  <a:schemeClr val="accent1"/>
                </a:solidFill>
              </a:rPr>
              <a:t>）进阶版本（选做）</a:t>
            </a:r>
            <a:endParaRPr lang="zh-CN" altLang="en-US" b="1" dirty="0">
              <a:solidFill>
                <a:schemeClr val="accent1"/>
              </a:solidFill>
            </a:endParaRPr>
          </a:p>
          <a:p>
            <a:pPr lvl="1"/>
            <a:r>
              <a:rPr lang="zh-CN" altLang="en-US" dirty="0"/>
              <a:t>在基础版本的基础上，增加以下特性：</a:t>
            </a:r>
            <a:endParaRPr lang="zh-CN" altLang="en-US" dirty="0"/>
          </a:p>
          <a:p>
            <a:pPr lvl="1"/>
            <a:r>
              <a:rPr lang="zh-CN" altLang="en-US" b="1" dirty="0"/>
              <a:t>文件类型</a:t>
            </a:r>
            <a:r>
              <a:rPr lang="zh-CN" altLang="en-US" dirty="0"/>
              <a:t>：支持包含文字和图像的输入（如文本中有图片，扫描版合同）。</a:t>
            </a:r>
            <a:endParaRPr lang="zh-CN" altLang="en-US" dirty="0"/>
          </a:p>
          <a:p>
            <a:pPr lvl="1"/>
            <a:r>
              <a:rPr lang="zh-CN" altLang="en-US" b="1" dirty="0"/>
              <a:t>存储</a:t>
            </a:r>
            <a:r>
              <a:rPr lang="zh-CN" altLang="en-US" dirty="0"/>
              <a:t>：</a:t>
            </a:r>
            <a:endParaRPr lang="zh-CN" altLang="en-US" dirty="0"/>
          </a:p>
          <a:p>
            <a:pPr lvl="2"/>
            <a:r>
              <a:rPr lang="zh-CN" altLang="en-US" dirty="0"/>
              <a:t>使用关系型数据库（</a:t>
            </a:r>
            <a:r>
              <a:rPr lang="en-US" altLang="zh-CN" dirty="0"/>
              <a:t>MySQL/PostgreSQL</a:t>
            </a:r>
            <a:r>
              <a:rPr lang="zh-CN" altLang="en-US" dirty="0"/>
              <a:t>）存储法律条文和文件元数据。</a:t>
            </a:r>
            <a:endParaRPr lang="zh-CN" altLang="en-US" dirty="0"/>
          </a:p>
          <a:p>
            <a:pPr lvl="2"/>
            <a:r>
              <a:rPr lang="zh-CN" altLang="en-US" dirty="0"/>
              <a:t>使用 </a:t>
            </a:r>
            <a:r>
              <a:rPr lang="en-US" altLang="zh-CN" dirty="0"/>
              <a:t>Elasticsearch </a:t>
            </a:r>
            <a:r>
              <a:rPr lang="zh-CN" altLang="en-US" dirty="0"/>
              <a:t>存储和检索条文全文。</a:t>
            </a:r>
            <a:endParaRPr lang="zh-CN" altLang="en-US" dirty="0"/>
          </a:p>
          <a:p>
            <a:pPr lvl="2"/>
            <a:r>
              <a:rPr lang="zh-CN" altLang="en-US" dirty="0"/>
              <a:t>使用向量数据库（</a:t>
            </a:r>
            <a:r>
              <a:rPr lang="en-US" altLang="zh-CN" dirty="0"/>
              <a:t>Milvus</a:t>
            </a:r>
            <a:r>
              <a:rPr lang="zh-CN" altLang="en-US" dirty="0"/>
              <a:t>、</a:t>
            </a:r>
            <a:r>
              <a:rPr lang="en-US" altLang="zh-CN" dirty="0"/>
              <a:t>FAISS</a:t>
            </a:r>
            <a:r>
              <a:rPr lang="zh-CN" altLang="en-US" dirty="0"/>
              <a:t>、</a:t>
            </a:r>
            <a:r>
              <a:rPr lang="en-US" altLang="zh-CN" dirty="0"/>
              <a:t>Pinecone </a:t>
            </a:r>
            <a:r>
              <a:rPr lang="zh-CN" altLang="en-US" dirty="0"/>
              <a:t>等）存储条文和合同的 </a:t>
            </a:r>
            <a:r>
              <a:rPr lang="en-US" altLang="zh-CN" dirty="0"/>
              <a:t>Embedding </a:t>
            </a:r>
            <a:r>
              <a:rPr lang="zh-CN" altLang="en-US" dirty="0"/>
              <a:t>向量，实现语义检索。</a:t>
            </a:r>
            <a:endParaRPr lang="zh-CN" altLang="en-US" dirty="0"/>
          </a:p>
          <a:p>
            <a:pPr lvl="1"/>
            <a:r>
              <a:rPr lang="zh-CN" altLang="en-US" b="1" dirty="0"/>
              <a:t>模型</a:t>
            </a:r>
            <a:r>
              <a:rPr lang="zh-CN" altLang="en-US" dirty="0"/>
              <a:t>：</a:t>
            </a:r>
            <a:endParaRPr lang="zh-CN" altLang="en-US" dirty="0"/>
          </a:p>
          <a:p>
            <a:pPr lvl="2"/>
            <a:r>
              <a:rPr lang="zh-CN" altLang="en-US" dirty="0"/>
              <a:t>在开源法律大模型基础上进行微调，提升条文匹配和审查准确率。</a:t>
            </a:r>
            <a:endParaRPr lang="zh-CN" altLang="en-US" dirty="0"/>
          </a:p>
          <a:p>
            <a:pPr>
              <a:spcBef>
                <a:spcPts val="1200"/>
              </a:spcBef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法律条文审查大模型应用设计与实现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96788" y="944418"/>
            <a:ext cx="547295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提交材料：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、项目代码 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2</a:t>
            </a:r>
            <a:r>
              <a:rPr lang="zh-CN" altLang="en-US" dirty="0"/>
              <a:t>、项目整体架构设计说明 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3</a:t>
            </a:r>
            <a:r>
              <a:rPr lang="zh-CN" altLang="en-US" dirty="0"/>
              <a:t>、可能用到的技术及选型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4</a:t>
            </a:r>
            <a:r>
              <a:rPr lang="zh-CN" altLang="en-US" dirty="0"/>
              <a:t>、遇到的问题记录以及思考记录 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5</a:t>
            </a:r>
            <a:r>
              <a:rPr lang="zh-CN" altLang="en-US" dirty="0"/>
              <a:t>、其他补充材料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96787" y="3633018"/>
            <a:ext cx="870024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备注：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、中国法律法规数据库（</a:t>
            </a:r>
            <a:r>
              <a:rPr lang="en-US" altLang="zh-CN" dirty="0">
                <a:hlinkClick r:id="rId1"/>
              </a:rPr>
              <a:t>https://flk.npc.gov.cn/</a:t>
            </a:r>
            <a:r>
              <a:rPr lang="zh-CN" altLang="en-US" dirty="0">
                <a:hlinkClick r:id="rId1"/>
              </a:rPr>
              <a:t>）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2</a:t>
            </a:r>
            <a:r>
              <a:rPr lang="zh-CN" altLang="en-US" dirty="0"/>
              <a:t>、只需实现算法功能，不需要做出前后端系统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liZTNjYjFmYzQ2NGMyMWM0ZWU5M2EwZTg2ZTA2M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2743</Words>
  <Application>WPS 演示</Application>
  <PresentationFormat>自定义</PresentationFormat>
  <Paragraphs>214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LB Helvetica Black</vt:lpstr>
      <vt:lpstr>Century Schoolbook</vt:lpstr>
      <vt:lpstr>Segoe Print</vt:lpstr>
      <vt:lpstr>L Helvetica Light</vt:lpstr>
      <vt:lpstr>方正大黑简体</vt:lpstr>
      <vt:lpstr>黑体</vt:lpstr>
      <vt:lpstr>Wingdings 2</vt:lpstr>
      <vt:lpstr>微软雅黑 Light</vt:lpstr>
      <vt:lpstr>方正大黑简体</vt:lpstr>
      <vt:lpstr>等线</vt:lpstr>
      <vt:lpstr>微软雅黑</vt:lpstr>
      <vt:lpstr>MS PGothic</vt:lpstr>
      <vt:lpstr>Arial Unicode MS</vt:lpstr>
      <vt:lpstr>等线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SEI</Company>
  <LinksUpToDate>false</LinksUpToDate>
  <SharedDoc>false</SharedDoc>
  <HyperlinksChanged>false</HyperlinksChanged>
  <AppVersion>14.0000</AppVersion>
  <Manager>Jon Gross</Manager>
  <Pages>7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Process Areas</dc:title>
  <dc:creator>Barbara Tyson</dc:creator>
  <dc:subject>Introduction to CMMI (Continuous)</dc:subject>
  <cp:lastModifiedBy>學仙丶七秒</cp:lastModifiedBy>
  <cp:revision>794</cp:revision>
  <cp:lastPrinted>2019-08-20T09:57:00Z</cp:lastPrinted>
  <dcterms:created xsi:type="dcterms:W3CDTF">2001-12-04T20:46:00Z</dcterms:created>
  <dcterms:modified xsi:type="dcterms:W3CDTF">2025-10-04T02:03:41Z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7108EC808CA14B92AE18809DF8C7089D_12</vt:lpwstr>
  </property>
  <property fmtid="{D5CDD505-2E9C-101B-9397-08002B2CF9AE}" pid="3" name="KSOProductBuildVer">
    <vt:lpwstr>2052-12.1.0.21915</vt:lpwstr>
  </property>
</Properties>
</file>